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e220b7f-3fe5-450a-5d64-ba838290877d}">
          <p14:sldIdLst>
            <p14:sldId id="256"/>
          </p14:sldIdLst>
        </p14:section>
        <p14:section name="Modèle" id="{76a5dc2d-a63a-3d95-363b-fd3fabf494f3}">
          <p14:sldIdLst>
            <p14:sldId id="257"/>
            <p14:sldId id="258"/>
          </p14:sldIdLst>
        </p14:section>
        <p14:section name="Résultats" id="{243a1395-2478-7c75-d0c4-22e78fcb5162}">
          <p14:sldIdLst>
            <p14:sldId id="259"/>
            <p14:sldId id="260"/>
            <p14:sldId id="261"/>
          </p14:sldIdLst>
        </p14:section>
        <p14:section name="Extension" id="{addf5de1-ec5d-8e35-9be5-f847cdd308da}">
          <p14:sldIdLst>
            <p14:sldId id="262"/>
          </p14:sldIdLst>
        </p14:section>
        <p14:section name="Conclusion" id="{bfc4bc3b-3ce7-3df8-0494-fb8df8c58541}">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Images par expression (dossier train)</a:t>
            </a:r>
          </a:p>
        </c:rich>
      </c:tx>
      <c:layout/>
      <c:overlay val="0"/>
    </c:title>
    <c:autoTitleDeleted val="0"/>
    <c:plotArea>
      <c:layout/>
      <c:barChart>
        <c:barDir val="bar"/>
        <c:grouping val="clustered"/>
        <c:varyColors val="0"/>
        <c:ser>
          <c:idx val="0"/>
          <c:order val="0"/>
          <c:tx>
            <c:strRef>
              <c:f>Sheet1!$B$1</c:f>
              <c:strCache>
                <c:ptCount val="1"/>
                <c:pt idx="0">
                  <c:v>Images d'entraînement</c:v>
                </c:pt>
              </c:strCache>
            </c:strRef>
          </c:tx>
          <c:spPr>
            <a:solidFill>
              <a:srgbClr val="14213D"/>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Sheet1!$A$2:$A$8</c:f>
              <c:multiLvlStrCache>
                <c:ptCount val="7"/>
                <c:lvl>
                  <c:pt idx="0">
                    <c:v>Joie</c:v>
                  </c:pt>
                  <c:pt idx="1">
                    <c:v>Neutre</c:v>
                  </c:pt>
                  <c:pt idx="2">
                    <c:v>Tristesse</c:v>
                  </c:pt>
                  <c:pt idx="3">
                    <c:v>Peur</c:v>
                  </c:pt>
                  <c:pt idx="4">
                    <c:v>Colère</c:v>
                  </c:pt>
                  <c:pt idx="5">
                    <c:v>Surprise</c:v>
                  </c:pt>
                  <c:pt idx="6">
                    <c:v>Dégoût</c:v>
                  </c:pt>
                </c:lvl>
              </c:multiLvlStrCache>
            </c:multiLvlStrRef>
          </c:cat>
          <c:val>
            <c:numRef>
              <c:f>Sheet1!$B$2:$B$8</c:f>
              <c:numCache>
                <c:formatCode>General</c:formatCode>
                <c:ptCount val="7"/>
                <c:pt idx="0">
                  <c:v>7215</c:v>
                </c:pt>
                <c:pt idx="1">
                  <c:v>4965</c:v>
                </c:pt>
                <c:pt idx="2">
                  <c:v>4830</c:v>
                </c:pt>
                <c:pt idx="3">
                  <c:v>4097</c:v>
                </c:pt>
                <c:pt idx="4">
                  <c:v>3995</c:v>
                </c:pt>
                <c:pt idx="5">
                  <c:v>3171</c:v>
                </c:pt>
                <c:pt idx="6">
                  <c:v>436</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F1 macro en validation (même protocole pour tous)</a:t>
            </a:r>
          </a:p>
        </c:rich>
      </c:tx>
      <c:layout/>
      <c:overlay val="0"/>
    </c:title>
    <c:autoTitleDeleted val="0"/>
    <c:plotArea>
      <c:layout/>
      <c:barChart>
        <c:barDir val="bar"/>
        <c:grouping val="stacked"/>
        <c:varyColors val="0"/>
        <c:ser>
          <c:idx val="0"/>
          <c:order val="0"/>
          <c:tx>
            <c:strRef>
              <c:f>Sheet1!$B$1</c:f>
              <c:strCache>
                <c:ptCount val="1"/>
                <c:pt idx="0">
                  <c:v>Autres</c:v>
                </c:pt>
              </c:strCache>
            </c:strRef>
          </c:tx>
          <c:spPr>
            <a:solidFill>
              <a:srgbClr val="8D99AE"/>
            </a:solidFill>
            <a:effectLst/>
          </c:spPr>
          <c:invertIfNegative val="0"/>
          <c:dLbls>
            <c:numFmt formatCode="0.000;;;" sourceLinked="0"/>
            <c:txPr>
              <a:bodyPr/>
              <a:lstStyle/>
              <a:p>
                <a:pPr>
                  <a:defRPr b="1"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Sheet1!$A$2:$A$10</c:f>
              <c:multiLvlStrCache>
                <c:ptCount val="9"/>
                <c:lvl>
                  <c:pt idx="0">
                    <c:v>E0 base</c:v>
                  </c:pt>
                  <c:pt idx="1">
                    <c:v>E1 Dropout</c:v>
                  </c:pt>
                  <c:pt idx="2">
                    <c:v>E3 Augmentation</c:v>
                  </c:pt>
                  <c:pt idx="3">
                    <c:v>E6 lr 1e-4</c:v>
                  </c:pt>
                  <c:pt idx="4">
                    <c:v>E4 Poids classes</c:v>
                  </c:pt>
                  <c:pt idx="5">
                    <c:v>E5 4ᵉ bloc</c:v>
                  </c:pt>
                  <c:pt idx="6">
                    <c:v>E2 BatchNorm</c:v>
                  </c:pt>
                  <c:pt idx="7">
                    <c:v>MobileNetV2</c:v>
                  </c:pt>
                  <c:pt idx="8">
                    <c:v>Combinaison</c:v>
                  </c:pt>
                </c:lvl>
              </c:multiLvlStrCache>
            </c:multiLvlStrRef>
          </c:cat>
          <c:val>
            <c:numRef>
              <c:f>Sheet1!$B$2:$B$10</c:f>
              <c:numCache>
                <c:formatCode>General</c:formatCode>
                <c:ptCount val="9"/>
                <c:pt idx="0">
                  <c:v>0.454</c:v>
                </c:pt>
                <c:pt idx="1">
                  <c:v>0</c:v>
                </c:pt>
                <c:pt idx="2">
                  <c:v>0.503</c:v>
                </c:pt>
                <c:pt idx="3">
                  <c:v>0.469</c:v>
                </c:pt>
                <c:pt idx="4">
                  <c:v>0.461</c:v>
                </c:pt>
                <c:pt idx="5">
                  <c:v>0.444</c:v>
                </c:pt>
                <c:pt idx="6">
                  <c:v>0.443</c:v>
                </c:pt>
                <c:pt idx="7">
                  <c:v>0.44</c:v>
                </c:pt>
                <c:pt idx="8">
                  <c:v>0.426</c:v>
                </c:pt>
              </c:numCache>
            </c:numRef>
          </c:val>
        </c:ser>
        <c:ser>
          <c:idx val="1"/>
          <c:order val="1"/>
          <c:tx>
            <c:strRef>
              <c:f>Sheet1!$C$1</c:f>
              <c:strCache>
                <c:ptCount val="1"/>
                <c:pt idx="0">
                  <c:v>Retenu</c:v>
                </c:pt>
              </c:strCache>
            </c:strRef>
          </c:tx>
          <c:spPr>
            <a:solidFill>
              <a:srgbClr val="FF6B5B"/>
            </a:solidFill>
            <a:effectLst/>
          </c:spPr>
          <c:invertIfNegative val="0"/>
          <c:dLbls>
            <c:numFmt formatCode="0.000;;;" sourceLinked="0"/>
            <c:txPr>
              <a:bodyPr/>
              <a:lstStyle/>
              <a:p>
                <a:pPr>
                  <a:defRPr b="1" i="0" strike="noStrike" sz="12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Sheet1!$A$2:$A$10</c:f>
              <c:multiLvlStrCache>
                <c:ptCount val="9"/>
                <c:lvl>
                  <c:pt idx="0">
                    <c:v>E0 base</c:v>
                  </c:pt>
                  <c:pt idx="1">
                    <c:v>E1 Dropout</c:v>
                  </c:pt>
                  <c:pt idx="2">
                    <c:v>E3 Augmentation</c:v>
                  </c:pt>
                  <c:pt idx="3">
                    <c:v>E6 lr 1e-4</c:v>
                  </c:pt>
                  <c:pt idx="4">
                    <c:v>E4 Poids classes</c:v>
                  </c:pt>
                  <c:pt idx="5">
                    <c:v>E5 4ᵉ bloc</c:v>
                  </c:pt>
                  <c:pt idx="6">
                    <c:v>E2 BatchNorm</c:v>
                  </c:pt>
                  <c:pt idx="7">
                    <c:v>MobileNetV2</c:v>
                  </c:pt>
                  <c:pt idx="8">
                    <c:v>Combinaison</c:v>
                  </c:pt>
                </c:lvl>
              </c:multiLvlStrCache>
            </c:multiLvlStrRef>
          </c:cat>
          <c:val>
            <c:numRef>
              <c:f>Sheet1!$C$2:$C$10</c:f>
              <c:numCache>
                <c:formatCode>General</c:formatCode>
                <c:ptCount val="9"/>
                <c:pt idx="0">
                  <c:v>0</c:v>
                </c:pt>
                <c:pt idx="1">
                  <c:v>0.509</c:v>
                </c:pt>
                <c:pt idx="2">
                  <c:v>0</c:v>
                </c:pt>
                <c:pt idx="3">
                  <c:v>0</c:v>
                </c:pt>
                <c:pt idx="4">
                  <c:v>0</c:v>
                </c:pt>
                <c:pt idx="5">
                  <c:v>0</c:v>
                </c:pt>
                <c:pt idx="6">
                  <c:v>0</c:v>
                </c:pt>
                <c:pt idx="7">
                  <c:v>0</c:v>
                </c:pt>
                <c:pt idx="8">
                  <c:v>0</c:v>
                </c:pt>
              </c:numCache>
            </c:numRef>
          </c:val>
        </c:ser>
        <c:dLbls>
          <c:numFmt formatCode="0.000;;;" sourceLinked="0"/>
          <c:txPr>
            <a:bodyPr/>
            <a:lstStyle/>
            <a:p>
              <a:pPr>
                <a:defRPr b="1" i="0" strike="noStrike" sz="1200" u="none">
                  <a:solidFill>
                    <a:srgbClr val="FFFFFF"/>
                  </a:solidFill>
                  <a:latin typeface="+mn-lt"/>
                </a:defRPr>
              </a:pPr>
            </a:p>
          </c:txPr>
          <c:dLblPos val="inEnd"/>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0.55"/>
          <c:min val="0.3"/>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Notre projet : reconnaître automatiquement l'expression d'un visage parmi 7 émotions, puis analyser plusieurs visages sur une photo ou une vidéo. On a entraîné des réseaux de neurones convolutifs sur le dataset FER-2013, puis on les a combinés avec un détecteur de visages YOLO.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FER-2013 : 35 887 visages déjà recadrés, en gris, 48 par 48 pixels, 7 expressions. Le point clé est le déséquilibre : 16 fois plus d'images de joie que de dégoût. Un modèle qui répond toujours joie aurait déjà 25 % de bonnes réponses. On normalise les pixels entre 0 et 1, on garde 15 % du train pour la validation en respectant les proportions, et le test n'est utilisé qu'à la toute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réseau dense aplatit l'image en liste de pixels et perd les formes : il plafonne à 38 %. Le CNN commence par trois blocs convolution, ReLU, pooling : des filtres 3 par 3 glissent sur l'image et repèrent des motifs, de plus en plus complexes. La taille passe de 48 à 6 pendant que la profondeur monte à 128. Ensuite une couche dense combine ces caractéristiques et Softmax donne 7 probabilités. Grâce au partage des poids, les convolutions n'ont que 93 000 paramètres. Résultat : 52 % contre 38 %.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le CNN construit, on l'a entraîné : Adam, lots de 64 images, entropie croisée, soit 382 mises à jour de poids par époque. Et là, on tombe sur le problème principal du projet : le surapprentissage. Jusqu'à l'époque 4, tout va bien : 52,3 % en validation. Ensuite, la perte d'entraînement est divisée par deux, mais celle de validation remonte d'un demi-point. À l'époque 12 : 79 % en entraînement, 48 % en validation, 31 points d'écart. Le réseau apprend les images par cœur. C'est logique : 683 000 paramètres pour 24 000 images, sans aucune régularisation. L'Early Stopping garde les poids de l'époque 4, mais ne règle pas le problème de fond : il fallait régulariser.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testé une modification à la fois, avec la même graine et le même nombre de paramètres : si le résultat change, on sait pourquoi. Le critère est le F1 macro de validation, qui compte autant chaque expression. Le gagnant, c'est le Dropout : pendant l'entraînement, on éteint au hasard 25 % des neurones après chaque bloc et 50 % avant la sortie. Le réseau ne peut plus compter sur quelques neurones précis pour mémoriser : il apprend des motifs plus généraux. À la prédiction, tous les neurones sont réactivés. Résultat : 57,1 % en validation, F1 macro +5,5 points, et l'écart train-validation divisé par deux. L'augmentation de données fait presque aussi bien. Les poids de classes font monter le rappel du dégoût mais baissent l'accuracy. Surprise : la combinaison des trois fait moins bien, 49,5 % : elle est même meilleure en validation qu'en entraînement, signe de sous-apprentissage. En revanche, elle reconnaît enfin le dégoût (rappel 0,62). Leçon : une combinaison doit toujours être comparée aux modifications seules. MobileNetV2 pré-entraîné ne fait pas mieux, avec 3 fois plus de paramètres : ImageNet est loin de nos petits visages gris.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le test, jamais utilisé pour nos choix, le CNN atteint 53 % contre 39 % pour le réseau dense, 72 % si on accepte le deuxième choix, et un F1 macro de 0,447. Le tableau détaille chaque expression. Joie et Surprise sont bien reconnues : sourire et bouche ouverte sont très visibles. Le plus gros gain par rapport au réseau dense est sur la colère : +33 points de rappel. Peur et dégoût restent difficiles : le dégoût n'est prédit que 2 fois sur tout le test. La matrice montre que la tristesse sert de refuge : 29 % des peurs, 25 % des neutres et 24 % des colères partent en tristesse. Enfin, le modèle est plus sûr quand il a raison (0,63) que quand il a tort (0,46), et beaucoup d'erreurs très sûres sont des étiquettes fausses du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analyser n'importe quelle photo, même avec plusieurs personnes, YOLO trouve les visages et le classifieur lit l'expression. On utilise un YOLOv8 nano entraîné sur des visages, car le YOLO standard détecte des personnes entières. La NMS supprime les boîtes en double, chaque boîte est rendue carrée avec 10 % de marge, puis le visage est préparé exactement comme à l'entraînement : gris, 48 par 48, divisé par 255. Sur 28 photos, on détecte 200 visages, jusqu'à 25 sur une seule image. La joie est très bien reconnue ; une bouche grande ouverte est souvent lue comme de la colère. En vidéo, 1 348 images en Full HD : ByteTrack suit le visage pendant 52,8 secondes, et un lissage exponentiel ramène les changements d'expression affichés de 197 à 65. La joie ressort très nettement, avec une probabilité de 1,00 à 26 secondes. Le traitement tourne à 7,6 images par seconde, donc pas encore en temps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on a un système complet, de la photo ou de la vidéo à l'expression de chaque visage. Ce qui marche : le CNN double presque le score d'un modèle naïf et dépasse nettement le réseau dense, le Dropout donne notre meilleur modèle, et YOLO détecte les visages de façon fiable, même en foule. Les limites : la peur et le dégoût, la tristesse qui sert de refuge, les expressions retenues ou de profil, et la vitesse. Pistes : plus de données pour les classes rares, mettre notre meilleur modèle, le CNN avec Dropout, dans la chaîne photo et vidéo, combiner les régularisations avec des doses plus faibles, et ré-entraîner sur des visages extraits par YOLO. Merci, nous sommes prêts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_SOMB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1088136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2560320"/>
            <a:ext cx="10881360" cy="822960"/>
          </a:xfrm>
          <a:prstGeom prst="rect">
            <a:avLst/>
          </a:prstGeom>
          <a:noFill/>
          <a:ln/>
        </p:spPr>
        <p:txBody>
          <a:bodyPr wrap="square" rtlCol="0"/>
          <a:lstStyle>
            <a:lvl1pPr algn="l" indent="0" marL="0">
              <a:buNone/>
              <a:defRPr lang="en-US" sz="2000" dirty="0">
                <a:solidFill>
                  <a:schemeClr val="accent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325880" y="347472"/>
            <a:ext cx="1033272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Reconnaissance d'expressions faciales · FER-2013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10881360" cy="1371600"/>
          </a:xfrm>
          <a:prstGeom prst="rect">
            <a:avLst/>
          </a:prstGeom>
          <a:noFill/>
          <a:ln/>
        </p:spPr>
        <p:txBody>
          <a:bodyPr wrap="square" lIns="0" tIns="0" rIns="0" bIns="0" rtlCol="0" anchor="b"/>
          <a:lstStyle/>
          <a:p>
            <a:pPr algn="l" indent="0" marL="0">
              <a:buNone/>
            </a:pPr>
            <a:r>
              <a:rPr lang="en-US" sz="4400" b="1" dirty="0">
                <a:solidFill>
                  <a:schemeClr val="bg1"/>
                </a:solidFill>
              </a:rPr>
              <a:t>Reconnaissance d'expressions faciales</a:t>
            </a:r>
            <a:endParaRPr lang="en-US" sz="4400" dirty="0"/>
          </a:p>
        </p:txBody>
      </p:sp>
      <p:sp>
        <p:nvSpPr>
          <p:cNvPr id="3" name="Text 0"/>
          <p:cNvSpPr/>
          <p:nvPr>
            <p:ph idx="101" type="body" hasCustomPrompt="1"/>
          </p:nvPr>
        </p:nvSpPr>
        <p:spPr>
          <a:xfrm>
            <a:off x="640080" y="2560320"/>
            <a:ext cx="10881360" cy="822960"/>
          </a:xfrm>
          <a:prstGeom prst="rect">
            <a:avLst/>
          </a:prstGeom>
          <a:noFill/>
          <a:ln/>
        </p:spPr>
        <p:txBody>
          <a:bodyPr wrap="square" lIns="0" tIns="0" rIns="0" bIns="0" rtlCol="0" anchor="t"/>
          <a:lstStyle/>
          <a:p>
            <a:pPr algn="l" indent="0" marL="0">
              <a:buNone/>
            </a:pPr>
            <a:r>
              <a:rPr lang="en-US" sz="2000" dirty="0">
                <a:solidFill>
                  <a:schemeClr val="accent2"/>
                </a:solidFill>
              </a:rPr>
              <a:t>CNN, Transfer Learning et détection de visages avec YOLO</a:t>
            </a:r>
            <a:endParaRPr lang="en-US" sz="2000" dirty="0"/>
          </a:p>
        </p:txBody>
      </p:sp>
      <p:sp>
        <p:nvSpPr>
          <p:cNvPr id="4" name="Text 2"/>
          <p:cNvSpPr txBox="1"/>
          <p:nvPr/>
        </p:nvSpPr>
        <p:spPr>
          <a:xfrm>
            <a:off x="640080" y="3108960"/>
            <a:ext cx="10881360" cy="411480"/>
          </a:xfrm>
          <a:prstGeom prst="rect">
            <a:avLst/>
          </a:prstGeom>
          <a:noFill/>
          <a:ln/>
        </p:spPr>
        <p:txBody>
          <a:bodyPr wrap="square" lIns="0" tIns="0" rIns="0" bIns="0" rtlCol="0" anchor="ctr"/>
          <a:lstStyle/>
          <a:p>
            <a:pPr indent="0" marL="0">
              <a:buNone/>
            </a:pPr>
            <a:r>
              <a:rPr lang="en-US" sz="1500" b="1" dirty="0">
                <a:solidFill>
                  <a:schemeClr val="accent1"/>
                </a:solidFill>
              </a:rPr>
              <a:t>53,0 %</a:t>
            </a:r>
            <a:pPr indent="0" marL="0">
              <a:buNone/>
            </a:pPr>
            <a:r>
              <a:rPr lang="en-US" sz="1500" dirty="0">
                <a:solidFill>
                  <a:schemeClr val="bg2"/>
                </a:solidFill>
              </a:rPr>
              <a:t> au test (CNN)   ·   </a:t>
            </a:r>
            <a:pPr indent="0" marL="0">
              <a:buNone/>
            </a:pPr>
            <a:r>
              <a:rPr lang="en-US" sz="1500" b="1" dirty="0">
                <a:solidFill>
                  <a:schemeClr val="accent1"/>
                </a:solidFill>
              </a:rPr>
              <a:t>57,1 %</a:t>
            </a:r>
            <a:pPr indent="0" marL="0">
              <a:buNone/>
            </a:pPr>
            <a:r>
              <a:rPr lang="en-US" sz="1500" dirty="0">
                <a:solidFill>
                  <a:schemeClr val="bg2"/>
                </a:solidFill>
              </a:rPr>
              <a:t> en validation (Dropout)   ·   </a:t>
            </a:r>
            <a:pPr indent="0" marL="0">
              <a:buNone/>
            </a:pPr>
            <a:r>
              <a:rPr lang="en-US" sz="1500" b="1" dirty="0">
                <a:solidFill>
                  <a:schemeClr val="accent1"/>
                </a:solidFill>
              </a:rPr>
              <a:t>200</a:t>
            </a:r>
            <a:pPr indent="0" marL="0">
              <a:buNone/>
            </a:pPr>
            <a:r>
              <a:rPr lang="en-US" sz="1500" dirty="0">
                <a:solidFill>
                  <a:schemeClr val="bg2"/>
                </a:solidFill>
              </a:rPr>
              <a:t> visages analysés sur 28 photos   ·   </a:t>
            </a:r>
            <a:pPr indent="0" marL="0">
              <a:buNone/>
            </a:pPr>
            <a:r>
              <a:rPr lang="en-US" sz="1500" b="1" dirty="0">
                <a:solidFill>
                  <a:schemeClr val="accent1"/>
                </a:solidFill>
              </a:rPr>
              <a:t>1 348</a:t>
            </a:r>
            <a:pPr indent="0" marL="0">
              <a:buNone/>
            </a:pPr>
            <a:r>
              <a:rPr lang="en-US" sz="1500" dirty="0">
                <a:solidFill>
                  <a:schemeClr val="bg2"/>
                </a:solidFill>
              </a:rPr>
              <a:t> images de vidéo annotées</a:t>
            </a:r>
            <a:endParaRPr lang="en-US" sz="1500" dirty="0"/>
          </a:p>
        </p:txBody>
      </p:sp>
      <p:pic>
        <p:nvPicPr>
          <p:cNvPr id="5" name="visages FER-2013" descr="/home/claude/deck/img/c_strip.png">    </p:cNvPr>
          <p:cNvPicPr>
            <a:picLocks noChangeAspect="1"/>
          </p:cNvPicPr>
          <p:nvPr/>
        </p:nvPicPr>
        <p:blipFill>
          <a:blip r:embed="rId1"/>
          <a:stretch>
            <a:fillRect/>
          </a:stretch>
        </p:blipFill>
        <p:spPr>
          <a:xfrm>
            <a:off x="640080" y="3886200"/>
            <a:ext cx="10881360" cy="1450848"/>
          </a:xfrm>
          <a:prstGeom prst="rect">
            <a:avLst/>
          </a:prstGeom>
        </p:spPr>
      </p:pic>
      <p:sp>
        <p:nvSpPr>
          <p:cNvPr id="6" name="Text 3"/>
          <p:cNvSpPr txBox="1"/>
          <p:nvPr/>
        </p:nvSpPr>
        <p:spPr>
          <a:xfrm>
            <a:off x="640080" y="5410200"/>
            <a:ext cx="1450848" cy="320040"/>
          </a:xfrm>
          <a:prstGeom prst="rect">
            <a:avLst/>
          </a:prstGeom>
          <a:noFill/>
          <a:ln/>
        </p:spPr>
        <p:txBody>
          <a:bodyPr wrap="square" lIns="0" tIns="0" rIns="0" bIns="0" rtlCol="0" anchor="ctr"/>
          <a:lstStyle/>
          <a:p>
            <a:pPr algn="ctr" indent="0" marL="0">
              <a:buNone/>
            </a:pPr>
            <a:r>
              <a:rPr lang="en-US" sz="1400" dirty="0">
                <a:solidFill>
                  <a:schemeClr val="bg2"/>
                </a:solidFill>
              </a:rPr>
              <a:t>Colère</a:t>
            </a:r>
            <a:endParaRPr lang="en-US" sz="1400" dirty="0"/>
          </a:p>
        </p:txBody>
      </p:sp>
      <p:sp>
        <p:nvSpPr>
          <p:cNvPr id="7" name="Text 4"/>
          <p:cNvSpPr txBox="1"/>
          <p:nvPr/>
        </p:nvSpPr>
        <p:spPr>
          <a:xfrm>
            <a:off x="2211832" y="5410200"/>
            <a:ext cx="1450848" cy="320040"/>
          </a:xfrm>
          <a:prstGeom prst="rect">
            <a:avLst/>
          </a:prstGeom>
          <a:noFill/>
          <a:ln/>
        </p:spPr>
        <p:txBody>
          <a:bodyPr wrap="square" lIns="0" tIns="0" rIns="0" bIns="0" rtlCol="0" anchor="ctr"/>
          <a:lstStyle/>
          <a:p>
            <a:pPr algn="ctr" indent="0" marL="0">
              <a:buNone/>
            </a:pPr>
            <a:r>
              <a:rPr lang="en-US" sz="1400" dirty="0">
                <a:solidFill>
                  <a:schemeClr val="bg2"/>
                </a:solidFill>
              </a:rPr>
              <a:t>Dégoût</a:t>
            </a:r>
            <a:endParaRPr lang="en-US" sz="1400" dirty="0"/>
          </a:p>
        </p:txBody>
      </p:sp>
      <p:sp>
        <p:nvSpPr>
          <p:cNvPr id="8" name="Text 5"/>
          <p:cNvSpPr txBox="1"/>
          <p:nvPr/>
        </p:nvSpPr>
        <p:spPr>
          <a:xfrm>
            <a:off x="3783584" y="5410200"/>
            <a:ext cx="1450848" cy="320040"/>
          </a:xfrm>
          <a:prstGeom prst="rect">
            <a:avLst/>
          </a:prstGeom>
          <a:noFill/>
          <a:ln/>
        </p:spPr>
        <p:txBody>
          <a:bodyPr wrap="square" lIns="0" tIns="0" rIns="0" bIns="0" rtlCol="0" anchor="ctr"/>
          <a:lstStyle/>
          <a:p>
            <a:pPr algn="ctr" indent="0" marL="0">
              <a:buNone/>
            </a:pPr>
            <a:r>
              <a:rPr lang="en-US" sz="1400" dirty="0">
                <a:solidFill>
                  <a:schemeClr val="bg2"/>
                </a:solidFill>
              </a:rPr>
              <a:t>Peur</a:t>
            </a:r>
            <a:endParaRPr lang="en-US" sz="1400" dirty="0"/>
          </a:p>
        </p:txBody>
      </p:sp>
      <p:sp>
        <p:nvSpPr>
          <p:cNvPr id="9" name="Text 6"/>
          <p:cNvSpPr txBox="1"/>
          <p:nvPr/>
        </p:nvSpPr>
        <p:spPr>
          <a:xfrm>
            <a:off x="5355336" y="5410200"/>
            <a:ext cx="1450848" cy="320040"/>
          </a:xfrm>
          <a:prstGeom prst="rect">
            <a:avLst/>
          </a:prstGeom>
          <a:noFill/>
          <a:ln/>
        </p:spPr>
        <p:txBody>
          <a:bodyPr wrap="square" lIns="0" tIns="0" rIns="0" bIns="0" rtlCol="0" anchor="ctr"/>
          <a:lstStyle/>
          <a:p>
            <a:pPr algn="ctr" indent="0" marL="0">
              <a:buNone/>
            </a:pPr>
            <a:r>
              <a:rPr lang="en-US" sz="1400" dirty="0">
                <a:solidFill>
                  <a:schemeClr val="bg2"/>
                </a:solidFill>
              </a:rPr>
              <a:t>Joie</a:t>
            </a:r>
            <a:endParaRPr lang="en-US" sz="1400" dirty="0"/>
          </a:p>
        </p:txBody>
      </p:sp>
      <p:sp>
        <p:nvSpPr>
          <p:cNvPr id="10" name="Text 7"/>
          <p:cNvSpPr txBox="1"/>
          <p:nvPr/>
        </p:nvSpPr>
        <p:spPr>
          <a:xfrm>
            <a:off x="6927088" y="5410200"/>
            <a:ext cx="1450848" cy="320040"/>
          </a:xfrm>
          <a:prstGeom prst="rect">
            <a:avLst/>
          </a:prstGeom>
          <a:noFill/>
          <a:ln/>
        </p:spPr>
        <p:txBody>
          <a:bodyPr wrap="square" lIns="0" tIns="0" rIns="0" bIns="0" rtlCol="0" anchor="ctr"/>
          <a:lstStyle/>
          <a:p>
            <a:pPr algn="ctr" indent="0" marL="0">
              <a:buNone/>
            </a:pPr>
            <a:r>
              <a:rPr lang="en-US" sz="1400" dirty="0">
                <a:solidFill>
                  <a:schemeClr val="bg2"/>
                </a:solidFill>
              </a:rPr>
              <a:t>Neutre</a:t>
            </a:r>
            <a:endParaRPr lang="en-US" sz="1400" dirty="0"/>
          </a:p>
        </p:txBody>
      </p:sp>
      <p:sp>
        <p:nvSpPr>
          <p:cNvPr id="11" name="Text 8"/>
          <p:cNvSpPr txBox="1"/>
          <p:nvPr/>
        </p:nvSpPr>
        <p:spPr>
          <a:xfrm>
            <a:off x="8498840" y="5410200"/>
            <a:ext cx="1450848" cy="320040"/>
          </a:xfrm>
          <a:prstGeom prst="rect">
            <a:avLst/>
          </a:prstGeom>
          <a:noFill/>
          <a:ln/>
        </p:spPr>
        <p:txBody>
          <a:bodyPr wrap="square" lIns="0" tIns="0" rIns="0" bIns="0" rtlCol="0" anchor="ctr"/>
          <a:lstStyle/>
          <a:p>
            <a:pPr algn="ctr" indent="0" marL="0">
              <a:buNone/>
            </a:pPr>
            <a:r>
              <a:rPr lang="en-US" sz="1400" dirty="0">
                <a:solidFill>
                  <a:schemeClr val="bg2"/>
                </a:solidFill>
              </a:rPr>
              <a:t>Tristesse</a:t>
            </a:r>
            <a:endParaRPr lang="en-US" sz="1400" dirty="0"/>
          </a:p>
        </p:txBody>
      </p:sp>
      <p:sp>
        <p:nvSpPr>
          <p:cNvPr id="12" name="Text 9"/>
          <p:cNvSpPr txBox="1"/>
          <p:nvPr/>
        </p:nvSpPr>
        <p:spPr>
          <a:xfrm>
            <a:off x="10070592" y="5410200"/>
            <a:ext cx="1450848" cy="320040"/>
          </a:xfrm>
          <a:prstGeom prst="rect">
            <a:avLst/>
          </a:prstGeom>
          <a:noFill/>
          <a:ln/>
        </p:spPr>
        <p:txBody>
          <a:bodyPr wrap="square" lIns="0" tIns="0" rIns="0" bIns="0" rtlCol="0" anchor="ctr"/>
          <a:lstStyle/>
          <a:p>
            <a:pPr algn="ctr" indent="0" marL="0">
              <a:buNone/>
            </a:pPr>
            <a:r>
              <a:rPr lang="en-US" sz="1400" dirty="0">
                <a:solidFill>
                  <a:schemeClr val="bg2"/>
                </a:solidFill>
              </a:rPr>
              <a:t>Surprise</a:t>
            </a:r>
            <a:endParaRPr lang="en-US" sz="1400" dirty="0"/>
          </a:p>
        </p:txBody>
      </p:sp>
      <p:sp>
        <p:nvSpPr>
          <p:cNvPr id="13" name="Text 10"/>
          <p:cNvSpPr txBox="1"/>
          <p:nvPr/>
        </p:nvSpPr>
        <p:spPr>
          <a:xfrm>
            <a:off x="640080" y="5989320"/>
            <a:ext cx="10881360" cy="320040"/>
          </a:xfrm>
          <a:prstGeom prst="rect">
            <a:avLst/>
          </a:prstGeom>
          <a:noFill/>
          <a:ln/>
        </p:spPr>
        <p:txBody>
          <a:bodyPr wrap="square" lIns="0" tIns="0" rIns="0" bIns="0" rtlCol="0" anchor="ctr"/>
          <a:lstStyle/>
          <a:p>
            <a:pPr indent="0" marL="0">
              <a:buNone/>
            </a:pPr>
            <a:r>
              <a:rPr lang="en-US" sz="1200" dirty="0">
                <a:solidFill>
                  <a:schemeClr val="accent3"/>
                </a:solidFill>
              </a:rPr>
              <a:t>Projet Deep Learning · Dataset FER-2013 · Keras et Ultralytics YOLOv8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pastille"/>
          <p:cNvSpPr/>
          <p:nvPr/>
        </p:nvSpPr>
        <p:spPr>
          <a:xfrm>
            <a:off x="548640" y="438912"/>
            <a:ext cx="502920" cy="502920"/>
          </a:xfrm>
          <a:prstGeom prst="ellipse">
            <a:avLst/>
          </a:prstGeom>
          <a:solidFill>
            <a:schemeClr val="accent1"/>
          </a:solidFill>
          <a:ln w="12700">
            <a:solidFill>
              <a:schemeClr val="accent1"/>
            </a:solidFill>
            <a:prstDash val="solid"/>
          </a:ln>
        </p:spPr>
      </p:sp>
      <p:sp>
        <p:nvSpPr>
          <p:cNvPr id="3" name="numero"/>
          <p:cNvSpPr txBox="1"/>
          <p:nvPr/>
        </p:nvSpPr>
        <p:spPr>
          <a:xfrm>
            <a:off x="548640" y="43891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4" name="Text 0"/>
          <p:cNvSpPr/>
          <p:nvPr>
            <p:ph idx="100" type="title" hasCustomPrompt="1"/>
          </p:nvPr>
        </p:nvSpPr>
        <p:spPr>
          <a:xfrm>
            <a:off x="1325880" y="347472"/>
            <a:ext cx="10332720" cy="685800"/>
          </a:xfrm>
          <a:prstGeom prst="rect">
            <a:avLst/>
          </a:prstGeom>
          <a:noFill/>
          <a:ln/>
        </p:spPr>
        <p:txBody>
          <a:bodyPr wrap="square" lIns="0" tIns="0" rIns="0" bIns="0" rtlCol="0" anchor="ctr"/>
          <a:lstStyle/>
          <a:p>
            <a:pPr algn="l" indent="0" marL="0">
              <a:buNone/>
            </a:pPr>
            <a:r>
              <a:rPr lang="en-US" sz="3400" b="1" dirty="0">
                <a:solidFill>
                  <a:schemeClr val="tx2"/>
                </a:solidFill>
              </a:rPr>
              <a:t>Un dataset de visages très déséquilibré</a:t>
            </a:r>
            <a:endParaRPr lang="en-US" sz="3400" dirty="0"/>
          </a:p>
        </p:txBody>
      </p:sp>
      <p:graphicFrame>
        <p:nvGraphicFramePr>
          <p:cNvPr id="5" name="Chart 0" descr=""/>
          <p:cNvGraphicFramePr/>
          <p:nvPr/>
        </p:nvGraphicFramePr>
        <p:xfrm>
          <a:off x="548640" y="1325880"/>
          <a:ext cx="6583680" cy="48463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680960" y="1280160"/>
            <a:ext cx="1828800" cy="685800"/>
          </a:xfrm>
          <a:prstGeom prst="rect">
            <a:avLst/>
          </a:prstGeom>
          <a:noFill/>
          <a:ln/>
        </p:spPr>
        <p:txBody>
          <a:bodyPr wrap="square" lIns="0" tIns="0" rIns="0" bIns="0" rtlCol="0" anchor="b"/>
          <a:lstStyle/>
          <a:p>
            <a:pPr indent="0" marL="0">
              <a:buNone/>
            </a:pPr>
            <a:r>
              <a:rPr lang="en-US" sz="3400" b="1" dirty="0">
                <a:solidFill>
                  <a:schemeClr val="tx2"/>
                </a:solidFill>
              </a:rPr>
              <a:t>35 887</a:t>
            </a:r>
            <a:endParaRPr lang="en-US" sz="3400" dirty="0"/>
          </a:p>
        </p:txBody>
      </p:sp>
      <p:sp>
        <p:nvSpPr>
          <p:cNvPr id="7" name="Text 4"/>
          <p:cNvSpPr txBox="1"/>
          <p:nvPr/>
        </p:nvSpPr>
        <p:spPr>
          <a:xfrm>
            <a:off x="7680960" y="1993392"/>
            <a:ext cx="1828800" cy="548640"/>
          </a:xfrm>
          <a:prstGeom prst="rect">
            <a:avLst/>
          </a:prstGeom>
          <a:noFill/>
          <a:ln/>
        </p:spPr>
        <p:txBody>
          <a:bodyPr wrap="square" lIns="0" tIns="0" rIns="0" bIns="0" rtlCol="0" anchor="t"/>
          <a:lstStyle/>
          <a:p>
            <a:pPr indent="0" marL="0">
              <a:buNone/>
            </a:pPr>
            <a:r>
              <a:rPr lang="en-US" sz="1400" dirty="0">
                <a:solidFill>
                  <a:schemeClr val="tx1"/>
                </a:solidFill>
              </a:rPr>
              <a:t>visages 48 × 48, gris, 7 expressions</a:t>
            </a:r>
            <a:endParaRPr lang="en-US" sz="1400" dirty="0"/>
          </a:p>
        </p:txBody>
      </p:sp>
      <p:sp>
        <p:nvSpPr>
          <p:cNvPr id="8" name="Text 5"/>
          <p:cNvSpPr txBox="1"/>
          <p:nvPr/>
        </p:nvSpPr>
        <p:spPr>
          <a:xfrm>
            <a:off x="9646920" y="1280160"/>
            <a:ext cx="2011680" cy="685800"/>
          </a:xfrm>
          <a:prstGeom prst="rect">
            <a:avLst/>
          </a:prstGeom>
          <a:noFill/>
          <a:ln/>
        </p:spPr>
        <p:txBody>
          <a:bodyPr wrap="square" lIns="0" tIns="0" rIns="0" bIns="0" rtlCol="0" anchor="b"/>
          <a:lstStyle/>
          <a:p>
            <a:pPr indent="0" marL="0">
              <a:buNone/>
            </a:pPr>
            <a:r>
              <a:rPr lang="en-US" sz="3400" b="1" dirty="0">
                <a:solidFill>
                  <a:schemeClr val="accent1"/>
                </a:solidFill>
              </a:rPr>
              <a:t>16,5 : 1</a:t>
            </a:r>
            <a:endParaRPr lang="en-US" sz="3400" dirty="0"/>
          </a:p>
        </p:txBody>
      </p:sp>
      <p:sp>
        <p:nvSpPr>
          <p:cNvPr id="9" name="Text 6"/>
          <p:cNvSpPr txBox="1"/>
          <p:nvPr/>
        </p:nvSpPr>
        <p:spPr>
          <a:xfrm>
            <a:off x="9646920" y="1993392"/>
            <a:ext cx="2011680" cy="548640"/>
          </a:xfrm>
          <a:prstGeom prst="rect">
            <a:avLst/>
          </a:prstGeom>
          <a:noFill/>
          <a:ln/>
        </p:spPr>
        <p:txBody>
          <a:bodyPr wrap="square" lIns="0" tIns="0" rIns="0" bIns="0" rtlCol="0" anchor="t"/>
          <a:lstStyle/>
          <a:p>
            <a:pPr indent="0" marL="0">
              <a:buNone/>
            </a:pPr>
            <a:r>
              <a:rPr lang="en-US" sz="1400" dirty="0">
                <a:solidFill>
                  <a:schemeClr val="tx1"/>
                </a:solidFill>
              </a:rPr>
              <a:t>Joie (7 215) contre Dégoût (436)</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680960" y="2697480"/>
          <a:ext cx="3931920" cy="914400"/>
        </p:xfrm>
        <a:graphic>
          <a:graphicData uri="http://schemas.openxmlformats.org/drawingml/2006/table">
            <a:tbl>
              <a:tblPr/>
              <a:tblGrid>
                <a:gridCol w="1051560"/>
                <a:gridCol w="868680"/>
                <a:gridCol w="2011680"/>
              </a:tblGrid>
              <a:tr h="27432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Ensemble</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Images</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Rôle</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r>
              <a:tr h="274320">
                <a:tc>
                  <a:txBody>
                    <a:bodyPr/>
                    <a:lstStyle/>
                    <a:p>
                      <a:pPr algn="l" indent="0" marL="0">
                        <a:buNone/>
                      </a:pPr>
                      <a:r>
                        <a:rPr lang="en-US" sz="1200" b="1" dirty="0">
                          <a:solidFill>
                            <a:srgbClr val="1F2933"/>
                          </a:solidFill>
                          <a:latin typeface="Calibri" pitchFamily="34" charset="0"/>
                          <a:ea typeface="Calibri" pitchFamily="34" charset="-122"/>
                          <a:cs typeface="Calibri" pitchFamily="34" charset="-120"/>
                        </a:rPr>
                        <a:t>Train</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24 402</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apprendre les poids</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r>
              <a:tr h="274320">
                <a:tc>
                  <a:txBody>
                    <a:bodyPr/>
                    <a:lstStyle/>
                    <a:p>
                      <a:pPr algn="l" indent="0" marL="0">
                        <a:buNone/>
                      </a:pPr>
                      <a:r>
                        <a:rPr lang="en-US" sz="1200" b="1" dirty="0">
                          <a:solidFill>
                            <a:srgbClr val="1F2933"/>
                          </a:solidFill>
                          <a:latin typeface="Calibri" pitchFamily="34" charset="0"/>
                          <a:ea typeface="Calibri" pitchFamily="34" charset="-122"/>
                          <a:cs typeface="Calibri" pitchFamily="34" charset="-120"/>
                        </a:rPr>
                        <a:t>Validation</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4 307</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choisir (15 %, stratifiée)</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r>
              <a:tr h="274320">
                <a:tc>
                  <a:txBody>
                    <a:bodyPr/>
                    <a:lstStyle/>
                    <a:p>
                      <a:pPr algn="l" indent="0" marL="0">
                        <a:buNone/>
                      </a:pPr>
                      <a:r>
                        <a:rPr lang="en-US" sz="1200" b="1" dirty="0">
                          <a:solidFill>
                            <a:srgbClr val="1F2933"/>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7 178</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mesurer, une seule fois</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r>
            </a:tbl>
          </a:graphicData>
        </a:graphic>
      </p:graphicFrame>
      <p:sp>
        <p:nvSpPr>
          <p:cNvPr id="11" name="Text 7"/>
          <p:cNvSpPr txBox="1"/>
          <p:nvPr/>
        </p:nvSpPr>
        <p:spPr>
          <a:xfrm>
            <a:off x="7680960" y="3931920"/>
            <a:ext cx="3931920" cy="22860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Pixels divisés par 255, labels en one-hot</a:t>
            </a:r>
            <a:endParaRPr lang="en-US" sz="1300" dirty="0"/>
          </a:p>
          <a:p>
            <a:pPr marL="342900" indent="-342900">
              <a:spcAft>
                <a:spcPts val="500"/>
              </a:spcAft>
              <a:buSzPct val="100000"/>
              <a:buChar char="•"/>
            </a:pPr>
            <a:r>
              <a:rPr lang="en-US" sz="1300" dirty="0">
                <a:solidFill>
                  <a:schemeClr val="tx1"/>
                </a:solidFill>
              </a:rPr>
              <a:t>Répondre toujours « Joie » : 25,1 % d'accuracy, c'est le seuil à battre</a:t>
            </a:r>
            <a:endParaRPr lang="en-US" sz="1300" dirty="0"/>
          </a:p>
          <a:p>
            <a:pPr marL="342900" indent="-342900">
              <a:spcAft>
                <a:spcPts val="500"/>
              </a:spcAft>
              <a:buSzPct val="100000"/>
              <a:buChar char="•"/>
            </a:pPr>
            <a:r>
              <a:rPr lang="en-US" sz="1300" dirty="0">
                <a:solidFill>
                  <a:schemeClr val="tx1"/>
                </a:solidFill>
              </a:rPr>
              <a:t>Dégoût = 1,5 % des images ; poids de classes préparés : Dégoût × 9,4, Joie × 0,57</a:t>
            </a:r>
            <a:endParaRPr lang="en-US" sz="1300" dirty="0"/>
          </a:p>
          <a:p>
            <a:pPr marL="342900" indent="-342900">
              <a:spcAft>
                <a:spcPts val="500"/>
              </a:spcAft>
              <a:buSzPct val="100000"/>
              <a:buChar char="•"/>
            </a:pPr>
            <a:r>
              <a:rPr lang="en-US" sz="1300" dirty="0">
                <a:solidFill>
                  <a:schemeClr val="tx1"/>
                </a:solidFill>
              </a:rPr>
              <a:t>Métrique de choix : F1 macro, qui compte autant chaque expression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astille"/>
          <p:cNvSpPr/>
          <p:nvPr/>
        </p:nvSpPr>
        <p:spPr>
          <a:xfrm>
            <a:off x="548640" y="438912"/>
            <a:ext cx="502920" cy="502920"/>
          </a:xfrm>
          <a:prstGeom prst="ellipse">
            <a:avLst/>
          </a:prstGeom>
          <a:solidFill>
            <a:schemeClr val="accent1"/>
          </a:solidFill>
          <a:ln w="12700">
            <a:solidFill>
              <a:schemeClr val="accent1"/>
            </a:solidFill>
            <a:prstDash val="solid"/>
          </a:ln>
        </p:spPr>
      </p:sp>
      <p:sp>
        <p:nvSpPr>
          <p:cNvPr id="3" name="numero"/>
          <p:cNvSpPr txBox="1"/>
          <p:nvPr/>
        </p:nvSpPr>
        <p:spPr>
          <a:xfrm>
            <a:off x="548640" y="43891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4" name="Text 0"/>
          <p:cNvSpPr/>
          <p:nvPr>
            <p:ph idx="100" type="title" hasCustomPrompt="1"/>
          </p:nvPr>
        </p:nvSpPr>
        <p:spPr>
          <a:xfrm>
            <a:off x="1325880" y="347472"/>
            <a:ext cx="10332720" cy="685800"/>
          </a:xfrm>
          <a:prstGeom prst="rect">
            <a:avLst/>
          </a:prstGeom>
          <a:noFill/>
          <a:ln/>
        </p:spPr>
        <p:txBody>
          <a:bodyPr wrap="square" lIns="0" tIns="0" rIns="0" bIns="0" rtlCol="0" anchor="ctr"/>
          <a:lstStyle/>
          <a:p>
            <a:pPr algn="l" indent="0" marL="0">
              <a:buNone/>
            </a:pPr>
            <a:r>
              <a:rPr lang="en-US" sz="3400" b="1" dirty="0">
                <a:solidFill>
                  <a:schemeClr val="tx2"/>
                </a:solidFill>
              </a:rPr>
              <a:t>Le CNN extrait des motifs, puis classe</a:t>
            </a:r>
            <a:endParaRPr lang="en-US" sz="3400" dirty="0"/>
          </a:p>
        </p:txBody>
      </p:sp>
      <p:sp>
        <p:nvSpPr>
          <p:cNvPr id="5" name="bloc 1"/>
          <p:cNvSpPr/>
          <p:nvPr/>
        </p:nvSpPr>
        <p:spPr>
          <a:xfrm>
            <a:off x="548640" y="1600200"/>
            <a:ext cx="1600200" cy="1234440"/>
          </a:xfrm>
          <a:prstGeom prst="roundRect">
            <a:avLst>
              <a:gd name="adj" fmla="val 8889"/>
            </a:avLst>
          </a:prstGeom>
          <a:solidFill>
            <a:schemeClr val="bg2"/>
          </a:solidFill>
          <a:ln w="12700">
            <a:solidFill>
              <a:schemeClr val="bg2"/>
            </a:solidFill>
            <a:prstDash val="solid"/>
          </a:ln>
        </p:spPr>
      </p:sp>
      <p:sp>
        <p:nvSpPr>
          <p:cNvPr id="6" name="Text 4"/>
          <p:cNvSpPr txBox="1"/>
          <p:nvPr/>
        </p:nvSpPr>
        <p:spPr>
          <a:xfrm>
            <a:off x="548640" y="1600200"/>
            <a:ext cx="1600200" cy="1234440"/>
          </a:xfrm>
          <a:prstGeom prst="rect">
            <a:avLst/>
          </a:prstGeom>
          <a:noFill/>
          <a:ln/>
        </p:spPr>
        <p:txBody>
          <a:bodyPr wrap="square" lIns="50800" tIns="50800" rIns="50800" bIns="50800" rtlCol="0" anchor="ctr"/>
          <a:lstStyle/>
          <a:p>
            <a:pPr algn="ctr" indent="0" marL="0">
              <a:buNone/>
            </a:pPr>
            <a:r>
              <a:rPr lang="en-US" sz="1500" b="1" dirty="0">
                <a:solidFill>
                  <a:schemeClr val="tx2"/>
                </a:solidFill>
              </a:rPr>
              <a:t>Image</a:t>
            </a:r>
            <a:endParaRPr lang="en-US" sz="1500" dirty="0"/>
          </a:p>
        </p:txBody>
      </p:sp>
      <p:sp>
        <p:nvSpPr>
          <p:cNvPr id="7" name="Text 5"/>
          <p:cNvSpPr txBox="1"/>
          <p:nvPr/>
        </p:nvSpPr>
        <p:spPr>
          <a:xfrm>
            <a:off x="548640" y="2926080"/>
            <a:ext cx="1600200" cy="365760"/>
          </a:xfrm>
          <a:prstGeom prst="rect">
            <a:avLst/>
          </a:prstGeom>
          <a:noFill/>
          <a:ln/>
        </p:spPr>
        <p:txBody>
          <a:bodyPr wrap="square" lIns="0" tIns="0" rIns="0" bIns="0" rtlCol="0" anchor="ctr"/>
          <a:lstStyle/>
          <a:p>
            <a:pPr algn="ctr" indent="0" marL="0">
              <a:buNone/>
            </a:pPr>
            <a:r>
              <a:rPr lang="en-US" sz="1300" dirty="0">
                <a:solidFill>
                  <a:schemeClr val="tx1"/>
                </a:solidFill>
              </a:rPr>
              <a:t>48 × 48 × 1</a:t>
            </a:r>
            <a:endParaRPr lang="en-US" sz="1300" dirty="0"/>
          </a:p>
        </p:txBody>
      </p:sp>
      <p:sp>
        <p:nvSpPr>
          <p:cNvPr id="8" name="Shape 6"/>
          <p:cNvSpPr/>
          <p:nvPr/>
        </p:nvSpPr>
        <p:spPr>
          <a:xfrm>
            <a:off x="2203704" y="2098548"/>
            <a:ext cx="228600" cy="237744"/>
          </a:xfrm>
          <a:prstGeom prst="rightArrow">
            <a:avLst/>
          </a:prstGeom>
          <a:solidFill>
            <a:schemeClr val="accent3"/>
          </a:solidFill>
          <a:ln w="12700">
            <a:solidFill>
              <a:schemeClr val="accent3"/>
            </a:solidFill>
            <a:prstDash val="solid"/>
          </a:ln>
        </p:spPr>
      </p:sp>
      <p:sp>
        <p:nvSpPr>
          <p:cNvPr id="9" name="bloc 2"/>
          <p:cNvSpPr/>
          <p:nvPr/>
        </p:nvSpPr>
        <p:spPr>
          <a:xfrm>
            <a:off x="2487168" y="1600200"/>
            <a:ext cx="1600200" cy="1234440"/>
          </a:xfrm>
          <a:prstGeom prst="roundRect">
            <a:avLst>
              <a:gd name="adj" fmla="val 8889"/>
            </a:avLst>
          </a:prstGeom>
          <a:solidFill>
            <a:schemeClr val="tx2"/>
          </a:solidFill>
          <a:ln w="12700">
            <a:solidFill>
              <a:schemeClr val="tx2"/>
            </a:solidFill>
            <a:prstDash val="solid"/>
          </a:ln>
        </p:spPr>
      </p:sp>
      <p:sp>
        <p:nvSpPr>
          <p:cNvPr id="10" name="Text 8"/>
          <p:cNvSpPr txBox="1"/>
          <p:nvPr/>
        </p:nvSpPr>
        <p:spPr>
          <a:xfrm>
            <a:off x="2487168" y="1600200"/>
            <a:ext cx="1600200" cy="1234440"/>
          </a:xfrm>
          <a:prstGeom prst="rect">
            <a:avLst/>
          </a:prstGeom>
          <a:noFill/>
          <a:ln/>
        </p:spPr>
        <p:txBody>
          <a:bodyPr wrap="square" lIns="50800" tIns="50800" rIns="50800" bIns="50800" rtlCol="0" anchor="ctr"/>
          <a:lstStyle/>
          <a:p>
            <a:pPr algn="ctr" indent="0" marL="0">
              <a:buNone/>
            </a:pPr>
            <a:r>
              <a:rPr lang="en-US" sz="1500" b="1" dirty="0">
                <a:solidFill>
                  <a:schemeClr val="bg1"/>
                </a:solidFill>
              </a:rPr>
              <a:t>Conv 32 + ReLU</a:t>
            </a:r>
            <a:endParaRPr lang="en-US" sz="1500" dirty="0"/>
          </a:p>
          <a:p>
            <a:pPr algn="ctr" indent="0" marL="0">
              <a:buNone/>
            </a:pPr>
            <a:r>
              <a:rPr lang="en-US" sz="1500" b="1" dirty="0">
                <a:solidFill>
                  <a:schemeClr val="bg1"/>
                </a:solidFill>
              </a:rPr>
              <a:t>MaxPool</a:t>
            </a:r>
            <a:endParaRPr lang="en-US" sz="1500" dirty="0"/>
          </a:p>
        </p:txBody>
      </p:sp>
      <p:sp>
        <p:nvSpPr>
          <p:cNvPr id="11" name="Text 9"/>
          <p:cNvSpPr txBox="1"/>
          <p:nvPr/>
        </p:nvSpPr>
        <p:spPr>
          <a:xfrm>
            <a:off x="2487168" y="2926080"/>
            <a:ext cx="1600200" cy="365760"/>
          </a:xfrm>
          <a:prstGeom prst="rect">
            <a:avLst/>
          </a:prstGeom>
          <a:noFill/>
          <a:ln/>
        </p:spPr>
        <p:txBody>
          <a:bodyPr wrap="square" lIns="0" tIns="0" rIns="0" bIns="0" rtlCol="0" anchor="ctr"/>
          <a:lstStyle/>
          <a:p>
            <a:pPr algn="ctr" indent="0" marL="0">
              <a:buNone/>
            </a:pPr>
            <a:r>
              <a:rPr lang="en-US" sz="1300" dirty="0">
                <a:solidFill>
                  <a:schemeClr val="tx1"/>
                </a:solidFill>
              </a:rPr>
              <a:t>24 × 24 × 32</a:t>
            </a:r>
            <a:endParaRPr lang="en-US" sz="1300" dirty="0"/>
          </a:p>
        </p:txBody>
      </p:sp>
      <p:sp>
        <p:nvSpPr>
          <p:cNvPr id="12" name="Shape 10"/>
          <p:cNvSpPr/>
          <p:nvPr/>
        </p:nvSpPr>
        <p:spPr>
          <a:xfrm>
            <a:off x="4142232" y="2098548"/>
            <a:ext cx="228600" cy="237744"/>
          </a:xfrm>
          <a:prstGeom prst="rightArrow">
            <a:avLst/>
          </a:prstGeom>
          <a:solidFill>
            <a:schemeClr val="accent3"/>
          </a:solidFill>
          <a:ln w="12700">
            <a:solidFill>
              <a:schemeClr val="accent3"/>
            </a:solidFill>
            <a:prstDash val="solid"/>
          </a:ln>
        </p:spPr>
      </p:sp>
      <p:sp>
        <p:nvSpPr>
          <p:cNvPr id="13" name="bloc 3"/>
          <p:cNvSpPr/>
          <p:nvPr/>
        </p:nvSpPr>
        <p:spPr>
          <a:xfrm>
            <a:off x="4425696" y="1600200"/>
            <a:ext cx="1600200" cy="1234440"/>
          </a:xfrm>
          <a:prstGeom prst="roundRect">
            <a:avLst>
              <a:gd name="adj" fmla="val 8889"/>
            </a:avLst>
          </a:prstGeom>
          <a:solidFill>
            <a:schemeClr val="tx2"/>
          </a:solidFill>
          <a:ln w="12700">
            <a:solidFill>
              <a:schemeClr val="tx2"/>
            </a:solidFill>
            <a:prstDash val="solid"/>
          </a:ln>
        </p:spPr>
      </p:sp>
      <p:sp>
        <p:nvSpPr>
          <p:cNvPr id="14" name="Text 12"/>
          <p:cNvSpPr txBox="1"/>
          <p:nvPr/>
        </p:nvSpPr>
        <p:spPr>
          <a:xfrm>
            <a:off x="4425696" y="1600200"/>
            <a:ext cx="1600200" cy="1234440"/>
          </a:xfrm>
          <a:prstGeom prst="rect">
            <a:avLst/>
          </a:prstGeom>
          <a:noFill/>
          <a:ln/>
        </p:spPr>
        <p:txBody>
          <a:bodyPr wrap="square" lIns="50800" tIns="50800" rIns="50800" bIns="50800" rtlCol="0" anchor="ctr"/>
          <a:lstStyle/>
          <a:p>
            <a:pPr algn="ctr" indent="0" marL="0">
              <a:buNone/>
            </a:pPr>
            <a:r>
              <a:rPr lang="en-US" sz="1500" b="1" dirty="0">
                <a:solidFill>
                  <a:schemeClr val="bg1"/>
                </a:solidFill>
              </a:rPr>
              <a:t>Conv 64 + ReLU</a:t>
            </a:r>
            <a:endParaRPr lang="en-US" sz="1500" dirty="0"/>
          </a:p>
          <a:p>
            <a:pPr algn="ctr" indent="0" marL="0">
              <a:buNone/>
            </a:pPr>
            <a:r>
              <a:rPr lang="en-US" sz="1500" b="1" dirty="0">
                <a:solidFill>
                  <a:schemeClr val="bg1"/>
                </a:solidFill>
              </a:rPr>
              <a:t>MaxPool</a:t>
            </a:r>
            <a:endParaRPr lang="en-US" sz="1500" dirty="0"/>
          </a:p>
        </p:txBody>
      </p:sp>
      <p:sp>
        <p:nvSpPr>
          <p:cNvPr id="15" name="Text 13"/>
          <p:cNvSpPr txBox="1"/>
          <p:nvPr/>
        </p:nvSpPr>
        <p:spPr>
          <a:xfrm>
            <a:off x="4425696" y="2926080"/>
            <a:ext cx="1600200" cy="365760"/>
          </a:xfrm>
          <a:prstGeom prst="rect">
            <a:avLst/>
          </a:prstGeom>
          <a:noFill/>
          <a:ln/>
        </p:spPr>
        <p:txBody>
          <a:bodyPr wrap="square" lIns="0" tIns="0" rIns="0" bIns="0" rtlCol="0" anchor="ctr"/>
          <a:lstStyle/>
          <a:p>
            <a:pPr algn="ctr" indent="0" marL="0">
              <a:buNone/>
            </a:pPr>
            <a:r>
              <a:rPr lang="en-US" sz="1300" dirty="0">
                <a:solidFill>
                  <a:schemeClr val="tx1"/>
                </a:solidFill>
              </a:rPr>
              <a:t>12 × 12 × 64</a:t>
            </a:r>
            <a:endParaRPr lang="en-US" sz="1300" dirty="0"/>
          </a:p>
        </p:txBody>
      </p:sp>
      <p:sp>
        <p:nvSpPr>
          <p:cNvPr id="16" name="Shape 14"/>
          <p:cNvSpPr/>
          <p:nvPr/>
        </p:nvSpPr>
        <p:spPr>
          <a:xfrm>
            <a:off x="6080760" y="2098548"/>
            <a:ext cx="228600" cy="237744"/>
          </a:xfrm>
          <a:prstGeom prst="rightArrow">
            <a:avLst/>
          </a:prstGeom>
          <a:solidFill>
            <a:schemeClr val="accent3"/>
          </a:solidFill>
          <a:ln w="12700">
            <a:solidFill>
              <a:schemeClr val="accent3"/>
            </a:solidFill>
            <a:prstDash val="solid"/>
          </a:ln>
        </p:spPr>
      </p:sp>
      <p:sp>
        <p:nvSpPr>
          <p:cNvPr id="17" name="bloc 4"/>
          <p:cNvSpPr/>
          <p:nvPr/>
        </p:nvSpPr>
        <p:spPr>
          <a:xfrm>
            <a:off x="6364224" y="1600200"/>
            <a:ext cx="1600200" cy="1234440"/>
          </a:xfrm>
          <a:prstGeom prst="roundRect">
            <a:avLst>
              <a:gd name="adj" fmla="val 8889"/>
            </a:avLst>
          </a:prstGeom>
          <a:solidFill>
            <a:schemeClr val="tx2"/>
          </a:solidFill>
          <a:ln w="12700">
            <a:solidFill>
              <a:schemeClr val="tx2"/>
            </a:solidFill>
            <a:prstDash val="solid"/>
          </a:ln>
        </p:spPr>
      </p:sp>
      <p:sp>
        <p:nvSpPr>
          <p:cNvPr id="18" name="Text 16"/>
          <p:cNvSpPr txBox="1"/>
          <p:nvPr/>
        </p:nvSpPr>
        <p:spPr>
          <a:xfrm>
            <a:off x="6364224" y="1600200"/>
            <a:ext cx="1600200" cy="1234440"/>
          </a:xfrm>
          <a:prstGeom prst="rect">
            <a:avLst/>
          </a:prstGeom>
          <a:noFill/>
          <a:ln/>
        </p:spPr>
        <p:txBody>
          <a:bodyPr wrap="square" lIns="50800" tIns="50800" rIns="50800" bIns="50800" rtlCol="0" anchor="ctr"/>
          <a:lstStyle/>
          <a:p>
            <a:pPr algn="ctr" indent="0" marL="0">
              <a:buNone/>
            </a:pPr>
            <a:r>
              <a:rPr lang="en-US" sz="1500" b="1" dirty="0">
                <a:solidFill>
                  <a:schemeClr val="bg1"/>
                </a:solidFill>
              </a:rPr>
              <a:t>Conv 128 + ReLU</a:t>
            </a:r>
            <a:endParaRPr lang="en-US" sz="1500" dirty="0"/>
          </a:p>
          <a:p>
            <a:pPr algn="ctr" indent="0" marL="0">
              <a:buNone/>
            </a:pPr>
            <a:r>
              <a:rPr lang="en-US" sz="1500" b="1" dirty="0">
                <a:solidFill>
                  <a:schemeClr val="bg1"/>
                </a:solidFill>
              </a:rPr>
              <a:t>MaxPool</a:t>
            </a:r>
            <a:endParaRPr lang="en-US" sz="1500" dirty="0"/>
          </a:p>
        </p:txBody>
      </p:sp>
      <p:sp>
        <p:nvSpPr>
          <p:cNvPr id="19" name="Text 17"/>
          <p:cNvSpPr txBox="1"/>
          <p:nvPr/>
        </p:nvSpPr>
        <p:spPr>
          <a:xfrm>
            <a:off x="6364224" y="2926080"/>
            <a:ext cx="1600200" cy="365760"/>
          </a:xfrm>
          <a:prstGeom prst="rect">
            <a:avLst/>
          </a:prstGeom>
          <a:noFill/>
          <a:ln/>
        </p:spPr>
        <p:txBody>
          <a:bodyPr wrap="square" lIns="0" tIns="0" rIns="0" bIns="0" rtlCol="0" anchor="ctr"/>
          <a:lstStyle/>
          <a:p>
            <a:pPr algn="ctr" indent="0" marL="0">
              <a:buNone/>
            </a:pPr>
            <a:r>
              <a:rPr lang="en-US" sz="1300" dirty="0">
                <a:solidFill>
                  <a:schemeClr val="tx1"/>
                </a:solidFill>
              </a:rPr>
              <a:t>6 × 6 × 128</a:t>
            </a:r>
            <a:endParaRPr lang="en-US" sz="1300" dirty="0"/>
          </a:p>
        </p:txBody>
      </p:sp>
      <p:sp>
        <p:nvSpPr>
          <p:cNvPr id="20" name="Shape 18"/>
          <p:cNvSpPr/>
          <p:nvPr/>
        </p:nvSpPr>
        <p:spPr>
          <a:xfrm>
            <a:off x="8019288" y="2098548"/>
            <a:ext cx="228600" cy="237744"/>
          </a:xfrm>
          <a:prstGeom prst="rightArrow">
            <a:avLst/>
          </a:prstGeom>
          <a:solidFill>
            <a:schemeClr val="accent3"/>
          </a:solidFill>
          <a:ln w="12700">
            <a:solidFill>
              <a:schemeClr val="accent3"/>
            </a:solidFill>
            <a:prstDash val="solid"/>
          </a:ln>
        </p:spPr>
      </p:sp>
      <p:sp>
        <p:nvSpPr>
          <p:cNvPr id="21" name="bloc 5"/>
          <p:cNvSpPr/>
          <p:nvPr/>
        </p:nvSpPr>
        <p:spPr>
          <a:xfrm>
            <a:off x="8302752" y="1600200"/>
            <a:ext cx="1600200" cy="1234440"/>
          </a:xfrm>
          <a:prstGeom prst="roundRect">
            <a:avLst>
              <a:gd name="adj" fmla="val 8889"/>
            </a:avLst>
          </a:prstGeom>
          <a:solidFill>
            <a:schemeClr val="accent2"/>
          </a:solidFill>
          <a:ln w="12700">
            <a:solidFill>
              <a:schemeClr val="accent2"/>
            </a:solidFill>
            <a:prstDash val="solid"/>
          </a:ln>
        </p:spPr>
      </p:sp>
      <p:sp>
        <p:nvSpPr>
          <p:cNvPr id="22" name="Text 20"/>
          <p:cNvSpPr txBox="1"/>
          <p:nvPr/>
        </p:nvSpPr>
        <p:spPr>
          <a:xfrm>
            <a:off x="8302752" y="1600200"/>
            <a:ext cx="1600200" cy="1234440"/>
          </a:xfrm>
          <a:prstGeom prst="rect">
            <a:avLst/>
          </a:prstGeom>
          <a:noFill/>
          <a:ln/>
        </p:spPr>
        <p:txBody>
          <a:bodyPr wrap="square" lIns="50800" tIns="50800" rIns="50800" bIns="50800" rtlCol="0" anchor="ctr"/>
          <a:lstStyle/>
          <a:p>
            <a:pPr algn="ctr" indent="0" marL="0">
              <a:buNone/>
            </a:pPr>
            <a:r>
              <a:rPr lang="en-US" sz="1500" b="1" dirty="0">
                <a:solidFill>
                  <a:schemeClr val="tx2"/>
                </a:solidFill>
              </a:rPr>
              <a:t>Flatten</a:t>
            </a:r>
            <a:endParaRPr lang="en-US" sz="1500" dirty="0"/>
          </a:p>
          <a:p>
            <a:pPr algn="ctr" indent="0" marL="0">
              <a:buNone/>
            </a:pPr>
            <a:r>
              <a:rPr lang="en-US" sz="1500" b="1" dirty="0">
                <a:solidFill>
                  <a:schemeClr val="tx2"/>
                </a:solidFill>
              </a:rPr>
              <a:t>Dense 128</a:t>
            </a:r>
            <a:endParaRPr lang="en-US" sz="1500" dirty="0"/>
          </a:p>
        </p:txBody>
      </p:sp>
      <p:sp>
        <p:nvSpPr>
          <p:cNvPr id="23" name="Text 21"/>
          <p:cNvSpPr txBox="1"/>
          <p:nvPr/>
        </p:nvSpPr>
        <p:spPr>
          <a:xfrm>
            <a:off x="8302752" y="2926080"/>
            <a:ext cx="1600200" cy="365760"/>
          </a:xfrm>
          <a:prstGeom prst="rect">
            <a:avLst/>
          </a:prstGeom>
          <a:noFill/>
          <a:ln/>
        </p:spPr>
        <p:txBody>
          <a:bodyPr wrap="square" lIns="0" tIns="0" rIns="0" bIns="0" rtlCol="0" anchor="ctr"/>
          <a:lstStyle/>
          <a:p>
            <a:pPr algn="ctr" indent="0" marL="0">
              <a:buNone/>
            </a:pPr>
            <a:r>
              <a:rPr lang="en-US" sz="1300" dirty="0">
                <a:solidFill>
                  <a:schemeClr val="tx1"/>
                </a:solidFill>
              </a:rPr>
              <a:t>4 608 → 128</a:t>
            </a:r>
            <a:endParaRPr lang="en-US" sz="1300" dirty="0"/>
          </a:p>
        </p:txBody>
      </p:sp>
      <p:sp>
        <p:nvSpPr>
          <p:cNvPr id="24" name="Shape 22"/>
          <p:cNvSpPr/>
          <p:nvPr/>
        </p:nvSpPr>
        <p:spPr>
          <a:xfrm>
            <a:off x="9957816" y="2098548"/>
            <a:ext cx="228600" cy="237744"/>
          </a:xfrm>
          <a:prstGeom prst="rightArrow">
            <a:avLst/>
          </a:prstGeom>
          <a:solidFill>
            <a:schemeClr val="accent3"/>
          </a:solidFill>
          <a:ln w="12700">
            <a:solidFill>
              <a:schemeClr val="accent3"/>
            </a:solidFill>
            <a:prstDash val="solid"/>
          </a:ln>
        </p:spPr>
      </p:sp>
      <p:sp>
        <p:nvSpPr>
          <p:cNvPr id="25" name="bloc 6"/>
          <p:cNvSpPr/>
          <p:nvPr/>
        </p:nvSpPr>
        <p:spPr>
          <a:xfrm>
            <a:off x="10241280" y="1600200"/>
            <a:ext cx="1600200" cy="1234440"/>
          </a:xfrm>
          <a:prstGeom prst="roundRect">
            <a:avLst>
              <a:gd name="adj" fmla="val 8889"/>
            </a:avLst>
          </a:prstGeom>
          <a:solidFill>
            <a:schemeClr val="accent1"/>
          </a:solidFill>
          <a:ln w="12700">
            <a:solidFill>
              <a:schemeClr val="accent1"/>
            </a:solidFill>
            <a:prstDash val="solid"/>
          </a:ln>
        </p:spPr>
      </p:sp>
      <p:sp>
        <p:nvSpPr>
          <p:cNvPr id="26" name="Text 24"/>
          <p:cNvSpPr txBox="1"/>
          <p:nvPr/>
        </p:nvSpPr>
        <p:spPr>
          <a:xfrm>
            <a:off x="10241280" y="1600200"/>
            <a:ext cx="1600200" cy="1234440"/>
          </a:xfrm>
          <a:prstGeom prst="rect">
            <a:avLst/>
          </a:prstGeom>
          <a:noFill/>
          <a:ln/>
        </p:spPr>
        <p:txBody>
          <a:bodyPr wrap="square" lIns="50800" tIns="50800" rIns="50800" bIns="50800" rtlCol="0" anchor="ctr"/>
          <a:lstStyle/>
          <a:p>
            <a:pPr algn="ctr" indent="0" marL="0">
              <a:buNone/>
            </a:pPr>
            <a:r>
              <a:rPr lang="en-US" sz="1500" b="1" dirty="0">
                <a:solidFill>
                  <a:schemeClr val="bg1"/>
                </a:solidFill>
              </a:rPr>
              <a:t>Dense 7</a:t>
            </a:r>
            <a:endParaRPr lang="en-US" sz="1500" dirty="0"/>
          </a:p>
          <a:p>
            <a:pPr algn="ctr" indent="0" marL="0">
              <a:buNone/>
            </a:pPr>
            <a:r>
              <a:rPr lang="en-US" sz="1500" b="1" dirty="0">
                <a:solidFill>
                  <a:schemeClr val="bg1"/>
                </a:solidFill>
              </a:rPr>
              <a:t>Softmax</a:t>
            </a:r>
            <a:endParaRPr lang="en-US" sz="1500" dirty="0"/>
          </a:p>
        </p:txBody>
      </p:sp>
      <p:sp>
        <p:nvSpPr>
          <p:cNvPr id="27" name="Text 25"/>
          <p:cNvSpPr txBox="1"/>
          <p:nvPr/>
        </p:nvSpPr>
        <p:spPr>
          <a:xfrm>
            <a:off x="10241280" y="2926080"/>
            <a:ext cx="1600200" cy="365760"/>
          </a:xfrm>
          <a:prstGeom prst="rect">
            <a:avLst/>
          </a:prstGeom>
          <a:noFill/>
          <a:ln/>
        </p:spPr>
        <p:txBody>
          <a:bodyPr wrap="square" lIns="0" tIns="0" rIns="0" bIns="0" rtlCol="0" anchor="ctr"/>
          <a:lstStyle/>
          <a:p>
            <a:pPr algn="ctr" indent="0" marL="0">
              <a:buNone/>
            </a:pPr>
            <a:r>
              <a:rPr lang="en-US" sz="1300" dirty="0">
                <a:solidFill>
                  <a:schemeClr val="tx1"/>
                </a:solidFill>
              </a:rPr>
              <a:t>7 probabilités</a:t>
            </a:r>
            <a:endParaRPr lang="en-US" sz="1300" dirty="0"/>
          </a:p>
        </p:txBody>
      </p:sp>
      <p:sp>
        <p:nvSpPr>
          <p:cNvPr id="28" name="Text 26"/>
          <p:cNvSpPr txBox="1"/>
          <p:nvPr/>
        </p:nvSpPr>
        <p:spPr>
          <a:xfrm>
            <a:off x="2487168" y="1234440"/>
            <a:ext cx="5486400" cy="320040"/>
          </a:xfrm>
          <a:prstGeom prst="rect">
            <a:avLst/>
          </a:prstGeom>
          <a:noFill/>
          <a:ln/>
        </p:spPr>
        <p:txBody>
          <a:bodyPr wrap="square" lIns="0" tIns="0" rIns="0" bIns="0" rtlCol="0" anchor="ctr"/>
          <a:lstStyle/>
          <a:p>
            <a:pPr algn="ctr" indent="0" marL="0">
              <a:buNone/>
            </a:pPr>
            <a:r>
              <a:rPr lang="en-US" sz="1200" i="1" dirty="0">
                <a:solidFill>
                  <a:schemeClr val="accent3"/>
                </a:solidFill>
              </a:rPr>
              <a:t>extraction des caractéristiques</a:t>
            </a:r>
            <a:endParaRPr lang="en-US" sz="1200" dirty="0"/>
          </a:p>
        </p:txBody>
      </p:sp>
      <p:sp>
        <p:nvSpPr>
          <p:cNvPr id="29" name="Text 27"/>
          <p:cNvSpPr txBox="1"/>
          <p:nvPr/>
        </p:nvSpPr>
        <p:spPr>
          <a:xfrm>
            <a:off x="8302752" y="1234440"/>
            <a:ext cx="3538728" cy="320040"/>
          </a:xfrm>
          <a:prstGeom prst="rect">
            <a:avLst/>
          </a:prstGeom>
          <a:noFill/>
          <a:ln/>
        </p:spPr>
        <p:txBody>
          <a:bodyPr wrap="square" lIns="0" tIns="0" rIns="0" bIns="0" rtlCol="0" anchor="ctr"/>
          <a:lstStyle/>
          <a:p>
            <a:pPr algn="ctr" indent="0" marL="0">
              <a:buNone/>
            </a:pPr>
            <a:r>
              <a:rPr lang="en-US" sz="1200" i="1" dirty="0">
                <a:solidFill>
                  <a:schemeClr val="accent3"/>
                </a:solidFill>
              </a:rPr>
              <a:t>classification</a:t>
            </a:r>
            <a:endParaRPr lang="en-US" sz="1200" dirty="0"/>
          </a:p>
        </p:txBody>
      </p:sp>
      <p:sp>
        <p:nvSpPr>
          <p:cNvPr id="30" name="carte 1"/>
          <p:cNvSpPr/>
          <p:nvPr/>
        </p:nvSpPr>
        <p:spPr>
          <a:xfrm>
            <a:off x="548640" y="3520440"/>
            <a:ext cx="3520440" cy="1280160"/>
          </a:xfrm>
          <a:prstGeom prst="roundRect">
            <a:avLst>
              <a:gd name="adj" fmla="val 7143"/>
            </a:avLst>
          </a:prstGeom>
          <a:solidFill>
            <a:schemeClr val="bg2"/>
          </a:solidFill>
          <a:ln w="12700">
            <a:solidFill>
              <a:schemeClr val="bg2"/>
            </a:solidFill>
            <a:prstDash val="solid"/>
          </a:ln>
        </p:spPr>
      </p:sp>
      <p:sp>
        <p:nvSpPr>
          <p:cNvPr id="31" name="Text 29"/>
          <p:cNvSpPr txBox="1"/>
          <p:nvPr/>
        </p:nvSpPr>
        <p:spPr>
          <a:xfrm>
            <a:off x="731520" y="3611880"/>
            <a:ext cx="3154680" cy="347472"/>
          </a:xfrm>
          <a:prstGeom prst="rect">
            <a:avLst/>
          </a:prstGeom>
          <a:noFill/>
          <a:ln/>
        </p:spPr>
        <p:txBody>
          <a:bodyPr wrap="square" lIns="0" tIns="0" rIns="0" bIns="0" rtlCol="0" anchor="ctr"/>
          <a:lstStyle/>
          <a:p>
            <a:pPr indent="0" marL="0">
              <a:buNone/>
            </a:pPr>
            <a:r>
              <a:rPr lang="en-US" sz="1500" b="1" dirty="0">
                <a:solidFill>
                  <a:schemeClr val="tx2"/>
                </a:solidFill>
              </a:rPr>
              <a:t>Filtres 3 × 3, padding same</a:t>
            </a:r>
            <a:endParaRPr lang="en-US" sz="1500" dirty="0"/>
          </a:p>
        </p:txBody>
      </p:sp>
      <p:sp>
        <p:nvSpPr>
          <p:cNvPr id="32" name="Text 30"/>
          <p:cNvSpPr txBox="1"/>
          <p:nvPr/>
        </p:nvSpPr>
        <p:spPr>
          <a:xfrm>
            <a:off x="731520" y="3977640"/>
            <a:ext cx="3154680" cy="777240"/>
          </a:xfrm>
          <a:prstGeom prst="rect">
            <a:avLst/>
          </a:prstGeom>
          <a:noFill/>
          <a:ln/>
        </p:spPr>
        <p:txBody>
          <a:bodyPr wrap="square" lIns="0" tIns="0" rIns="0" bIns="0" rtlCol="0" anchor="t"/>
          <a:lstStyle/>
          <a:p>
            <a:pPr indent="0" marL="0">
              <a:buNone/>
            </a:pPr>
            <a:r>
              <a:rPr lang="en-US" sz="1300" dirty="0">
                <a:solidFill>
                  <a:schemeClr val="tx1"/>
                </a:solidFill>
              </a:rPr>
              <a:t>Peu de paramètres, bords conservés ; le pooling réduit la taille de façon contrôlée.</a:t>
            </a:r>
            <a:endParaRPr lang="en-US" sz="1300" dirty="0"/>
          </a:p>
        </p:txBody>
      </p:sp>
      <p:sp>
        <p:nvSpPr>
          <p:cNvPr id="33" name="carte 2"/>
          <p:cNvSpPr/>
          <p:nvPr/>
        </p:nvSpPr>
        <p:spPr>
          <a:xfrm>
            <a:off x="4315968" y="3520440"/>
            <a:ext cx="3520440" cy="1280160"/>
          </a:xfrm>
          <a:prstGeom prst="roundRect">
            <a:avLst>
              <a:gd name="adj" fmla="val 7143"/>
            </a:avLst>
          </a:prstGeom>
          <a:solidFill>
            <a:schemeClr val="bg2"/>
          </a:solidFill>
          <a:ln w="12700">
            <a:solidFill>
              <a:schemeClr val="bg2"/>
            </a:solidFill>
            <a:prstDash val="solid"/>
          </a:ln>
        </p:spPr>
      </p:sp>
      <p:sp>
        <p:nvSpPr>
          <p:cNvPr id="34" name="Text 32"/>
          <p:cNvSpPr txBox="1"/>
          <p:nvPr/>
        </p:nvSpPr>
        <p:spPr>
          <a:xfrm>
            <a:off x="4498848" y="3611880"/>
            <a:ext cx="3154680" cy="347472"/>
          </a:xfrm>
          <a:prstGeom prst="rect">
            <a:avLst/>
          </a:prstGeom>
          <a:noFill/>
          <a:ln/>
        </p:spPr>
        <p:txBody>
          <a:bodyPr wrap="square" lIns="0" tIns="0" rIns="0" bIns="0" rtlCol="0" anchor="ctr"/>
          <a:lstStyle/>
          <a:p>
            <a:pPr indent="0" marL="0">
              <a:buNone/>
            </a:pPr>
            <a:r>
              <a:rPr lang="en-US" sz="1500" b="1" dirty="0">
                <a:solidFill>
                  <a:schemeClr val="tx2"/>
                </a:solidFill>
              </a:rPr>
              <a:t>32 → 64 → 128 filtres</a:t>
            </a:r>
            <a:endParaRPr lang="en-US" sz="1500" dirty="0"/>
          </a:p>
        </p:txBody>
      </p:sp>
      <p:sp>
        <p:nvSpPr>
          <p:cNvPr id="35" name="Text 33"/>
          <p:cNvSpPr txBox="1"/>
          <p:nvPr/>
        </p:nvSpPr>
        <p:spPr>
          <a:xfrm>
            <a:off x="4498848" y="3977640"/>
            <a:ext cx="3154680" cy="777240"/>
          </a:xfrm>
          <a:prstGeom prst="rect">
            <a:avLst/>
          </a:prstGeom>
          <a:noFill/>
          <a:ln/>
        </p:spPr>
        <p:txBody>
          <a:bodyPr wrap="square" lIns="0" tIns="0" rIns="0" bIns="0" rtlCol="0" anchor="t"/>
          <a:lstStyle/>
          <a:p>
            <a:pPr indent="0" marL="0">
              <a:buNone/>
            </a:pPr>
            <a:r>
              <a:rPr lang="en-US" sz="1300" dirty="0">
                <a:solidFill>
                  <a:schemeClr val="tx1"/>
                </a:solidFill>
              </a:rPr>
              <a:t>Motifs de plus en plus complexes : bords, puis yeux et bouche, puis expressions.</a:t>
            </a:r>
            <a:endParaRPr lang="en-US" sz="1300" dirty="0"/>
          </a:p>
        </p:txBody>
      </p:sp>
      <p:sp>
        <p:nvSpPr>
          <p:cNvPr id="36" name="carte 3"/>
          <p:cNvSpPr/>
          <p:nvPr/>
        </p:nvSpPr>
        <p:spPr>
          <a:xfrm>
            <a:off x="8083296" y="3520440"/>
            <a:ext cx="3520440" cy="1280160"/>
          </a:xfrm>
          <a:prstGeom prst="roundRect">
            <a:avLst>
              <a:gd name="adj" fmla="val 7143"/>
            </a:avLst>
          </a:prstGeom>
          <a:solidFill>
            <a:schemeClr val="bg2"/>
          </a:solidFill>
          <a:ln w="12700">
            <a:solidFill>
              <a:schemeClr val="bg2"/>
            </a:solidFill>
            <a:prstDash val="solid"/>
          </a:ln>
        </p:spPr>
      </p:sp>
      <p:sp>
        <p:nvSpPr>
          <p:cNvPr id="37" name="Text 35"/>
          <p:cNvSpPr txBox="1"/>
          <p:nvPr/>
        </p:nvSpPr>
        <p:spPr>
          <a:xfrm>
            <a:off x="8266176" y="3611880"/>
            <a:ext cx="3154680" cy="347472"/>
          </a:xfrm>
          <a:prstGeom prst="rect">
            <a:avLst/>
          </a:prstGeom>
          <a:noFill/>
          <a:ln/>
        </p:spPr>
        <p:txBody>
          <a:bodyPr wrap="square" lIns="0" tIns="0" rIns="0" bIns="0" rtlCol="0" anchor="ctr"/>
          <a:lstStyle/>
          <a:p>
            <a:pPr indent="0" marL="0">
              <a:buNone/>
            </a:pPr>
            <a:r>
              <a:rPr lang="en-US" sz="1500" b="1" dirty="0">
                <a:solidFill>
                  <a:schemeClr val="tx2"/>
                </a:solidFill>
              </a:rPr>
              <a:t>683 527 paramètres</a:t>
            </a:r>
            <a:endParaRPr lang="en-US" sz="1500" dirty="0"/>
          </a:p>
        </p:txBody>
      </p:sp>
      <p:sp>
        <p:nvSpPr>
          <p:cNvPr id="38" name="Text 36"/>
          <p:cNvSpPr txBox="1"/>
          <p:nvPr/>
        </p:nvSpPr>
        <p:spPr>
          <a:xfrm>
            <a:off x="8266176" y="3977640"/>
            <a:ext cx="3154680" cy="777240"/>
          </a:xfrm>
          <a:prstGeom prst="rect">
            <a:avLst/>
          </a:prstGeom>
          <a:noFill/>
          <a:ln/>
        </p:spPr>
        <p:txBody>
          <a:bodyPr wrap="square" lIns="0" tIns="0" rIns="0" bIns="0" rtlCol="0" anchor="t"/>
          <a:lstStyle/>
          <a:p>
            <a:pPr indent="0" marL="0">
              <a:buNone/>
            </a:pPr>
            <a:r>
              <a:rPr lang="en-US" sz="1300" dirty="0">
                <a:solidFill>
                  <a:schemeClr val="tx1"/>
                </a:solidFill>
              </a:rPr>
              <a:t>Seulement 92 672 dans les convolutions grâce au partage des poids ; Dropout ajouté en Partie 6.</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4956048"/>
          <a:ext cx="11064240" cy="914400"/>
        </p:xfrm>
        <a:graphic>
          <a:graphicData uri="http://schemas.openxmlformats.org/drawingml/2006/table">
            <a:tbl>
              <a:tblPr/>
              <a:tblGrid>
                <a:gridCol w="3657600"/>
                <a:gridCol w="1143000"/>
                <a:gridCol w="1325880"/>
                <a:gridCol w="1005840"/>
                <a:gridCol w="1280160"/>
                <a:gridCol w="1280160"/>
                <a:gridCol w="1371600"/>
              </a:tblGrid>
              <a:tr h="28346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Modèle (validation)</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Paramètres</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dont convolutions</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Perte val</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Accuracy val</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Accuracy test</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F1 macro test</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r>
              <a:tr h="283464">
                <a:tc>
                  <a:txBody>
                    <a:bodyPr/>
                    <a:lstStyle/>
                    <a:p>
                      <a:pPr algn="l" indent="0" marL="0">
                        <a:buNone/>
                      </a:pPr>
                      <a:r>
                        <a:rPr lang="en-US" sz="1200" b="1" dirty="0">
                          <a:solidFill>
                            <a:srgbClr val="1F2933"/>
                          </a:solidFill>
                          <a:latin typeface="Calibri" pitchFamily="34" charset="0"/>
                          <a:ea typeface="Calibri" pitchFamily="34" charset="-122"/>
                          <a:cs typeface="Calibri" pitchFamily="34" charset="-120"/>
                        </a:rPr>
                        <a:t>Toujours « Joie »</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25,1 %</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24,7 %</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0,057</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r>
              <a:tr h="283464">
                <a:tc>
                  <a:txBody>
                    <a:bodyPr/>
                    <a:lstStyle/>
                    <a:p>
                      <a:pPr algn="l" indent="0" marL="0">
                        <a:buNone/>
                      </a:pPr>
                      <a:r>
                        <a:rPr lang="en-US" sz="1200" b="1" dirty="0">
                          <a:solidFill>
                            <a:srgbClr val="1F2933"/>
                          </a:solidFill>
                          <a:latin typeface="Calibri" pitchFamily="34" charset="0"/>
                          <a:ea typeface="Calibri" pitchFamily="34" charset="-122"/>
                          <a:cs typeface="Calibri" pitchFamily="34" charset="-120"/>
                        </a:rPr>
                        <a:t>Réseau dense (Flatten → Dense 256 → Dense 7)</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591 879</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1,596</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38,1 %</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39,1 %</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0,300</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r>
              <a:tr h="283464">
                <a:tc>
                  <a:txBody>
                    <a:bodyPr/>
                    <a:lstStyle/>
                    <a:p>
                      <a:pPr algn="l" indent="0" marL="0">
                        <a:buNone/>
                      </a:pPr>
                      <a:r>
                        <a:rPr lang="en-US" sz="1200" b="1" dirty="0">
                          <a:solidFill>
                            <a:srgbClr val="FF6B5B"/>
                          </a:solidFill>
                          <a:latin typeface="Calibri" pitchFamily="34" charset="0"/>
                          <a:ea typeface="Calibri" pitchFamily="34" charset="-122"/>
                          <a:cs typeface="Calibri" pitchFamily="34" charset="-120"/>
                        </a:rPr>
                        <a:t>CNN (3 blocs + Dense 128)</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6B5B"/>
                          </a:solidFill>
                          <a:latin typeface="Calibri" pitchFamily="34" charset="0"/>
                          <a:ea typeface="Calibri" pitchFamily="34" charset="-122"/>
                          <a:cs typeface="Calibri" pitchFamily="34" charset="-120"/>
                        </a:rPr>
                        <a:t>683 527</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6B5B"/>
                          </a:solidFill>
                          <a:latin typeface="Calibri" pitchFamily="34" charset="0"/>
                          <a:ea typeface="Calibri" pitchFamily="34" charset="-122"/>
                          <a:cs typeface="Calibri" pitchFamily="34" charset="-120"/>
                        </a:rPr>
                        <a:t>92 672</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6B5B"/>
                          </a:solidFill>
                          <a:latin typeface="Calibri" pitchFamily="34" charset="0"/>
                          <a:ea typeface="Calibri" pitchFamily="34" charset="-122"/>
                          <a:cs typeface="Calibri" pitchFamily="34" charset="-120"/>
                        </a:rPr>
                        <a:t>1,251</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6B5B"/>
                          </a:solidFill>
                          <a:latin typeface="Calibri" pitchFamily="34" charset="0"/>
                          <a:ea typeface="Calibri" pitchFamily="34" charset="-122"/>
                          <a:cs typeface="Calibri" pitchFamily="34" charset="-120"/>
                        </a:rPr>
                        <a:t>52,3 %</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6B5B"/>
                          </a:solidFill>
                          <a:latin typeface="Calibri" pitchFamily="34" charset="0"/>
                          <a:ea typeface="Calibri" pitchFamily="34" charset="-122"/>
                          <a:cs typeface="Calibri" pitchFamily="34" charset="-120"/>
                        </a:rPr>
                        <a:t>53,0 %</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6B5B"/>
                          </a:solidFill>
                          <a:latin typeface="Calibri" pitchFamily="34" charset="0"/>
                          <a:ea typeface="Calibri" pitchFamily="34" charset="-122"/>
                          <a:cs typeface="Calibri" pitchFamily="34" charset="-120"/>
                        </a:rPr>
                        <a:t>0,447</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stille"/>
          <p:cNvSpPr/>
          <p:nvPr/>
        </p:nvSpPr>
        <p:spPr>
          <a:xfrm>
            <a:off x="548640" y="438912"/>
            <a:ext cx="502920" cy="502920"/>
          </a:xfrm>
          <a:prstGeom prst="ellipse">
            <a:avLst/>
          </a:prstGeom>
          <a:solidFill>
            <a:schemeClr val="accent1"/>
          </a:solidFill>
          <a:ln w="12700">
            <a:solidFill>
              <a:schemeClr val="accent1"/>
            </a:solidFill>
            <a:prstDash val="solid"/>
          </a:ln>
        </p:spPr>
      </p:sp>
      <p:sp>
        <p:nvSpPr>
          <p:cNvPr id="3" name="numero"/>
          <p:cNvSpPr txBox="1"/>
          <p:nvPr/>
        </p:nvSpPr>
        <p:spPr>
          <a:xfrm>
            <a:off x="548640" y="43891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4" name="Text 0"/>
          <p:cNvSpPr/>
          <p:nvPr>
            <p:ph idx="100" type="title" hasCustomPrompt="1"/>
          </p:nvPr>
        </p:nvSpPr>
        <p:spPr>
          <a:xfrm>
            <a:off x="1325880" y="347472"/>
            <a:ext cx="10332720" cy="685800"/>
          </a:xfrm>
          <a:prstGeom prst="rect">
            <a:avLst/>
          </a:prstGeom>
          <a:noFill/>
          <a:ln/>
        </p:spPr>
        <p:txBody>
          <a:bodyPr wrap="square" lIns="0" tIns="0" rIns="0" bIns="0" rtlCol="0" anchor="ctr"/>
          <a:lstStyle/>
          <a:p>
            <a:pPr algn="l" indent="0" marL="0">
              <a:buNone/>
            </a:pPr>
            <a:r>
              <a:rPr lang="en-US" sz="3400" b="1" dirty="0">
                <a:solidFill>
                  <a:schemeClr val="tx2"/>
                </a:solidFill>
              </a:rPr>
              <a:t>Un surapprentissage dès la 4ᵉ époque</a:t>
            </a:r>
            <a:endParaRPr lang="en-US" sz="3400" dirty="0"/>
          </a:p>
        </p:txBody>
      </p:sp>
      <p:pic>
        <p:nvPicPr>
          <p:cNvPr id="5" name="courbes d'apprentissage" descr="/home/claude/deck/img/c_courbes.png">    </p:cNvPr>
          <p:cNvPicPr>
            <a:picLocks noChangeAspect="1"/>
          </p:cNvPicPr>
          <p:nvPr/>
        </p:nvPicPr>
        <p:blipFill>
          <a:blip r:embed="rId1"/>
          <a:stretch>
            <a:fillRect/>
          </a:stretch>
        </p:blipFill>
        <p:spPr>
          <a:xfrm>
            <a:off x="548640" y="1325880"/>
            <a:ext cx="7680960" cy="2638393"/>
          </a:xfrm>
          <a:prstGeom prst="rect">
            <a:avLst/>
          </a:prstGeom>
        </p:spPr>
      </p:pic>
      <p:sp>
        <p:nvSpPr>
          <p:cNvPr id="6" name="Text 3"/>
          <p:cNvSpPr txBox="1"/>
          <p:nvPr/>
        </p:nvSpPr>
        <p:spPr>
          <a:xfrm>
            <a:off x="548640" y="4101433"/>
            <a:ext cx="7680960" cy="320040"/>
          </a:xfrm>
          <a:prstGeom prst="rect">
            <a:avLst/>
          </a:prstGeom>
          <a:noFill/>
          <a:ln/>
        </p:spPr>
        <p:txBody>
          <a:bodyPr wrap="square" lIns="0" tIns="0" rIns="0" bIns="0" rtlCol="0" anchor="ctr"/>
          <a:lstStyle/>
          <a:p>
            <a:pPr indent="0" marL="0">
              <a:buNone/>
            </a:pPr>
            <a:r>
              <a:rPr lang="en-US" sz="1200" dirty="0">
                <a:solidFill>
                  <a:schemeClr val="accent3"/>
                </a:solidFill>
              </a:rPr>
              <a:t>Adam (lr 0,001) · lots de 64 · entropie croisée · Early Stopping (patience 8)</a:t>
            </a:r>
            <a:endParaRPr lang="en-US" sz="1200" dirty="0"/>
          </a:p>
        </p:txBody>
      </p:sp>
      <p:sp>
        <p:nvSpPr>
          <p:cNvPr id="7" name="Text 4"/>
          <p:cNvSpPr txBox="1"/>
          <p:nvPr/>
        </p:nvSpPr>
        <p:spPr>
          <a:xfrm>
            <a:off x="8686800" y="1280160"/>
            <a:ext cx="2926080" cy="685800"/>
          </a:xfrm>
          <a:prstGeom prst="rect">
            <a:avLst/>
          </a:prstGeom>
          <a:noFill/>
          <a:ln/>
        </p:spPr>
        <p:txBody>
          <a:bodyPr wrap="square" lIns="0" tIns="0" rIns="0" bIns="0" rtlCol="0" anchor="b"/>
          <a:lstStyle/>
          <a:p>
            <a:pPr indent="0" marL="0">
              <a:buNone/>
            </a:pPr>
            <a:r>
              <a:rPr lang="en-US" sz="3600" b="1" dirty="0">
                <a:solidFill>
                  <a:schemeClr val="tx2"/>
                </a:solidFill>
              </a:rPr>
              <a:t>52,3 %</a:t>
            </a:r>
            <a:endParaRPr lang="en-US" sz="3600" dirty="0"/>
          </a:p>
        </p:txBody>
      </p:sp>
      <p:sp>
        <p:nvSpPr>
          <p:cNvPr id="8" name="Text 5"/>
          <p:cNvSpPr txBox="1"/>
          <p:nvPr/>
        </p:nvSpPr>
        <p:spPr>
          <a:xfrm>
            <a:off x="8686800" y="1993392"/>
            <a:ext cx="2926080" cy="548640"/>
          </a:xfrm>
          <a:prstGeom prst="rect">
            <a:avLst/>
          </a:prstGeom>
          <a:noFill/>
          <a:ln/>
        </p:spPr>
        <p:txBody>
          <a:bodyPr wrap="square" lIns="0" tIns="0" rIns="0" bIns="0" rtlCol="0" anchor="t"/>
          <a:lstStyle/>
          <a:p>
            <a:pPr indent="0" marL="0">
              <a:buNone/>
            </a:pPr>
            <a:r>
              <a:rPr lang="en-US" sz="1400" dirty="0">
                <a:solidFill>
                  <a:schemeClr val="tx1"/>
                </a:solidFill>
              </a:rPr>
              <a:t>en validation à l'époque 4, la meilleure : poids gardés par l'Early Stopping</a:t>
            </a:r>
            <a:endParaRPr lang="en-US" sz="1400" dirty="0"/>
          </a:p>
        </p:txBody>
      </p:sp>
      <p:sp>
        <p:nvSpPr>
          <p:cNvPr id="9" name="Text 6"/>
          <p:cNvSpPr txBox="1"/>
          <p:nvPr/>
        </p:nvSpPr>
        <p:spPr>
          <a:xfrm>
            <a:off x="8686800" y="2606040"/>
            <a:ext cx="2926080" cy="685800"/>
          </a:xfrm>
          <a:prstGeom prst="rect">
            <a:avLst/>
          </a:prstGeom>
          <a:noFill/>
          <a:ln/>
        </p:spPr>
        <p:txBody>
          <a:bodyPr wrap="square" lIns="0" tIns="0" rIns="0" bIns="0" rtlCol="0" anchor="b"/>
          <a:lstStyle/>
          <a:p>
            <a:pPr indent="0" marL="0">
              <a:buNone/>
            </a:pPr>
            <a:r>
              <a:rPr lang="en-US" sz="3600" b="1" dirty="0">
                <a:solidFill>
                  <a:schemeClr val="accent1"/>
                </a:solidFill>
              </a:rPr>
              <a:t>+30,7 pts</a:t>
            </a:r>
            <a:endParaRPr lang="en-US" sz="3600" dirty="0"/>
          </a:p>
        </p:txBody>
      </p:sp>
      <p:sp>
        <p:nvSpPr>
          <p:cNvPr id="10" name="Text 7"/>
          <p:cNvSpPr txBox="1"/>
          <p:nvPr/>
        </p:nvSpPr>
        <p:spPr>
          <a:xfrm>
            <a:off x="8686800" y="3319272"/>
            <a:ext cx="2926080" cy="548640"/>
          </a:xfrm>
          <a:prstGeom prst="rect">
            <a:avLst/>
          </a:prstGeom>
          <a:noFill/>
          <a:ln/>
        </p:spPr>
        <p:txBody>
          <a:bodyPr wrap="square" lIns="0" tIns="0" rIns="0" bIns="0" rtlCol="0" anchor="t"/>
          <a:lstStyle/>
          <a:p>
            <a:pPr indent="0" marL="0">
              <a:buNone/>
            </a:pPr>
            <a:r>
              <a:rPr lang="en-US" sz="1400" dirty="0">
                <a:solidFill>
                  <a:schemeClr val="tx1"/>
                </a:solidFill>
              </a:rPr>
              <a:t>d'écart train / validation à l'époque 12 : le réseau apprend par cœur</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7680960" cy="914400"/>
        </p:xfrm>
        <a:graphic>
          <a:graphicData uri="http://schemas.openxmlformats.org/drawingml/2006/table">
            <a:tbl>
              <a:tblPr/>
              <a:tblGrid>
                <a:gridCol w="685800"/>
                <a:gridCol w="2057400"/>
                <a:gridCol w="1005840"/>
                <a:gridCol w="914400"/>
                <a:gridCol w="1005840"/>
                <a:gridCol w="914400"/>
                <a:gridCol w="1097280"/>
              </a:tblGrid>
              <a:tr h="27432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Époque</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Moment</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Perte train</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Perte val</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Acc. train</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Acc. val</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Écart</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r>
              <a:tr h="274320">
                <a:tc>
                  <a:txBody>
                    <a:bodyPr/>
                    <a:lstStyle/>
                    <a:p>
                      <a:pPr algn="l" indent="0" marL="0">
                        <a:buNone/>
                      </a:pPr>
                      <a:r>
                        <a:rPr lang="en-US" sz="1200" b="1" dirty="0">
                          <a:solidFill>
                            <a:srgbClr val="1F29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début</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1,665</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1,514</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34,4 %</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41,4 %</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−6,9 pts</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r>
              <a:tr h="274320">
                <a:tc>
                  <a:txBody>
                    <a:bodyPr/>
                    <a:lstStyle/>
                    <a:p>
                      <a:pPr algn="l" indent="0" marL="0">
                        <a:buNone/>
                      </a:pPr>
                      <a:r>
                        <a:rPr lang="en-US" sz="1200" b="1" dirty="0">
                          <a:solidFill>
                            <a:srgbClr val="FF6B5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200" b="1" dirty="0">
                          <a:solidFill>
                            <a:srgbClr val="FF6B5B"/>
                          </a:solidFill>
                          <a:latin typeface="Calibri" pitchFamily="34" charset="0"/>
                          <a:ea typeface="Calibri" pitchFamily="34" charset="-122"/>
                          <a:cs typeface="Calibri" pitchFamily="34" charset="-120"/>
                        </a:rPr>
                        <a:t>meilleure (perte val min.)</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200" b="1" dirty="0">
                          <a:solidFill>
                            <a:srgbClr val="FF6B5B"/>
                          </a:solidFill>
                          <a:latin typeface="Calibri" pitchFamily="34" charset="0"/>
                          <a:ea typeface="Calibri" pitchFamily="34" charset="-122"/>
                          <a:cs typeface="Calibri" pitchFamily="34" charset="-120"/>
                        </a:rPr>
                        <a:t>1,167</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200" b="1" dirty="0">
                          <a:solidFill>
                            <a:srgbClr val="FF6B5B"/>
                          </a:solidFill>
                          <a:latin typeface="Calibri" pitchFamily="34" charset="0"/>
                          <a:ea typeface="Calibri" pitchFamily="34" charset="-122"/>
                          <a:cs typeface="Calibri" pitchFamily="34" charset="-120"/>
                        </a:rPr>
                        <a:t>1,251</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200" b="1" dirty="0">
                          <a:solidFill>
                            <a:srgbClr val="FF6B5B"/>
                          </a:solidFill>
                          <a:latin typeface="Calibri" pitchFamily="34" charset="0"/>
                          <a:ea typeface="Calibri" pitchFamily="34" charset="-122"/>
                          <a:cs typeface="Calibri" pitchFamily="34" charset="-120"/>
                        </a:rPr>
                        <a:t>56,0 %</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200" b="1" dirty="0">
                          <a:solidFill>
                            <a:srgbClr val="FF6B5B"/>
                          </a:solidFill>
                          <a:latin typeface="Calibri" pitchFamily="34" charset="0"/>
                          <a:ea typeface="Calibri" pitchFamily="34" charset="-122"/>
                          <a:cs typeface="Calibri" pitchFamily="34" charset="-120"/>
                        </a:rPr>
                        <a:t>52,3 %</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200" b="1" dirty="0">
                          <a:solidFill>
                            <a:srgbClr val="FF6B5B"/>
                          </a:solidFill>
                          <a:latin typeface="Calibri" pitchFamily="34" charset="0"/>
                          <a:ea typeface="Calibri" pitchFamily="34" charset="-122"/>
                          <a:cs typeface="Calibri" pitchFamily="34" charset="-120"/>
                        </a:rPr>
                        <a:t>+3,7 pts</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r>
              <a:tr h="274320">
                <a:tc>
                  <a:txBody>
                    <a:bodyPr/>
                    <a:lstStyle/>
                    <a:p>
                      <a:pPr algn="l" indent="0" marL="0">
                        <a:buNone/>
                      </a:pPr>
                      <a:r>
                        <a:rPr lang="en-US" sz="1200" b="1" dirty="0">
                          <a:solidFill>
                            <a:srgbClr val="1F2933"/>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arrêt (Early Stopping)</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0,585</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1,751</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78,9 %</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48,2 %</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Calibri" pitchFamily="34" charset="0"/>
                          <a:ea typeface="Calibri" pitchFamily="34" charset="-122"/>
                          <a:cs typeface="Calibri" pitchFamily="34" charset="-120"/>
                        </a:rPr>
                        <a:t>+30,7 pts</a:t>
                      </a:r>
                      <a:endParaRPr lang="en-US" sz="12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r>
            </a:tbl>
          </a:graphicData>
        </a:graphic>
      </p:graphicFrame>
      <p:sp>
        <p:nvSpPr>
          <p:cNvPr id="12" name="Text 8"/>
          <p:cNvSpPr txBox="1"/>
          <p:nvPr/>
        </p:nvSpPr>
        <p:spPr>
          <a:xfrm>
            <a:off x="8686800" y="3931920"/>
            <a:ext cx="2926080" cy="2331720"/>
          </a:xfrm>
          <a:prstGeom prst="rect">
            <a:avLst/>
          </a:prstGeom>
          <a:noFill/>
          <a:ln/>
        </p:spPr>
        <p:txBody>
          <a:bodyPr wrap="square" lIns="0" tIns="0" rIns="0" bIns="0" rtlCol="0" anchor="t"/>
          <a:lstStyle/>
          <a:p>
            <a:pPr indent="0" marL="0">
              <a:spcAft>
                <a:spcPts val="500"/>
              </a:spcAft>
              <a:buNone/>
            </a:pPr>
            <a:r>
              <a:rPr lang="en-US" sz="1200" b="1" dirty="0">
                <a:solidFill>
                  <a:schemeClr val="tx1"/>
                </a:solidFill>
              </a:rPr>
              <a:t>Pourquoi : </a:t>
            </a:r>
            <a:pPr indent="0" marL="0">
              <a:spcAft>
                <a:spcPts val="500"/>
              </a:spcAft>
              <a:buNone/>
            </a:pPr>
            <a:r>
              <a:rPr lang="en-US" sz="1200" dirty="0">
                <a:solidFill>
                  <a:schemeClr val="tx1"/>
                </a:solidFill>
              </a:rPr>
              <a:t>683 527 paramètres pour 24 402 images, aucune régularisation, labels parfois faux.</a:t>
            </a:r>
            <a:endParaRPr lang="en-US" sz="1200" dirty="0"/>
          </a:p>
          <a:p>
            <a:pPr indent="0" marL="0">
              <a:spcAft>
                <a:spcPts val="500"/>
              </a:spcAft>
              <a:buNone/>
            </a:pPr>
            <a:r>
              <a:rPr lang="en-US" sz="1200" b="1" dirty="0">
                <a:solidFill>
                  <a:schemeClr val="tx1"/>
                </a:solidFill>
              </a:rPr>
              <a:t>Après l'époque 4 : </a:t>
            </a:r>
            <a:pPr indent="0" marL="0">
              <a:spcAft>
                <a:spcPts val="500"/>
              </a:spcAft>
              <a:buNone/>
            </a:pPr>
            <a:r>
              <a:rPr lang="en-US" sz="1200" dirty="0">
                <a:solidFill>
                  <a:schemeClr val="tx1"/>
                </a:solidFill>
              </a:rPr>
              <a:t>perte train ÷ 2 (1,17 → 0,59), perte val +0,50.</a:t>
            </a:r>
            <a:endParaRPr lang="en-US" sz="1200" dirty="0"/>
          </a:p>
          <a:p>
            <a:pPr indent="0" marL="0">
              <a:spcAft>
                <a:spcPts val="500"/>
              </a:spcAft>
              <a:buNone/>
            </a:pPr>
            <a:r>
              <a:rPr lang="en-US" sz="1200" b="1" dirty="0">
                <a:solidFill>
                  <a:schemeClr val="tx1"/>
                </a:solidFill>
              </a:rPr>
              <a:t>Coût : </a:t>
            </a:r>
            <a:pPr indent="0" marL="0">
              <a:spcAft>
                <a:spcPts val="500"/>
              </a:spcAft>
              <a:buNone/>
            </a:pPr>
            <a:r>
              <a:rPr lang="en-US" sz="1200" dirty="0">
                <a:solidFill>
                  <a:schemeClr val="tx1"/>
                </a:solidFill>
              </a:rPr>
              <a:t>382 mises à jour par époque, 12 époques en 0,8 min (GPU T4).</a:t>
            </a:r>
            <a:endParaRPr lang="en-US" sz="1200" dirty="0"/>
          </a:p>
          <a:p>
            <a:pPr indent="0" marL="0">
              <a:spcAft>
                <a:spcPts val="500"/>
              </a:spcAft>
              <a:buNone/>
            </a:pPr>
            <a:r>
              <a:rPr lang="en-US" sz="1200" b="1" dirty="0">
                <a:solidFill>
                  <a:schemeClr val="tx1"/>
                </a:solidFill>
              </a:rPr>
              <a:t>Réponse testée ensuite : </a:t>
            </a:r>
            <a:pPr indent="0" marL="0">
              <a:spcAft>
                <a:spcPts val="500"/>
              </a:spcAft>
              <a:buNone/>
            </a:pPr>
            <a:r>
              <a:rPr lang="en-US" sz="1200" dirty="0">
                <a:solidFill>
                  <a:schemeClr val="tx1"/>
                </a:solidFill>
              </a:rPr>
              <a:t>Dropout, augmentation de données…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astille"/>
          <p:cNvSpPr/>
          <p:nvPr/>
        </p:nvSpPr>
        <p:spPr>
          <a:xfrm>
            <a:off x="548640" y="438912"/>
            <a:ext cx="502920" cy="502920"/>
          </a:xfrm>
          <a:prstGeom prst="ellipse">
            <a:avLst/>
          </a:prstGeom>
          <a:solidFill>
            <a:schemeClr val="accent1"/>
          </a:solidFill>
          <a:ln w="12700">
            <a:solidFill>
              <a:schemeClr val="accent1"/>
            </a:solidFill>
            <a:prstDash val="solid"/>
          </a:ln>
        </p:spPr>
      </p:sp>
      <p:sp>
        <p:nvSpPr>
          <p:cNvPr id="3" name="numero"/>
          <p:cNvSpPr txBox="1"/>
          <p:nvPr/>
        </p:nvSpPr>
        <p:spPr>
          <a:xfrm>
            <a:off x="548640" y="43891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4" name="Text 0"/>
          <p:cNvSpPr/>
          <p:nvPr>
            <p:ph idx="100" type="title" hasCustomPrompt="1"/>
          </p:nvPr>
        </p:nvSpPr>
        <p:spPr>
          <a:xfrm>
            <a:off x="1325880" y="347472"/>
            <a:ext cx="10332720" cy="685800"/>
          </a:xfrm>
          <a:prstGeom prst="rect">
            <a:avLst/>
          </a:prstGeom>
          <a:noFill/>
          <a:ln/>
        </p:spPr>
        <p:txBody>
          <a:bodyPr wrap="square" lIns="0" tIns="0" rIns="0" bIns="0" rtlCol="0" anchor="ctr"/>
          <a:lstStyle/>
          <a:p>
            <a:pPr algn="l" indent="0" marL="0">
              <a:buNone/>
            </a:pPr>
            <a:r>
              <a:rPr lang="en-US" sz="3400" b="1" dirty="0">
                <a:solidFill>
                  <a:schemeClr val="tx2"/>
                </a:solidFill>
              </a:rPr>
              <a:t>Le Dropout seul gagne la comparaison</a:t>
            </a:r>
            <a:endParaRPr lang="en-US" sz="3400" dirty="0"/>
          </a:p>
        </p:txBody>
      </p:sp>
      <p:graphicFrame>
        <p:nvGraphicFramePr>
          <p:cNvPr id="5" name="Chart 0" descr=""/>
          <p:cNvGraphicFramePr/>
          <p:nvPr/>
        </p:nvGraphicFramePr>
        <p:xfrm>
          <a:off x="548640" y="1280160"/>
          <a:ext cx="5394960" cy="49377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217920" y="1234440"/>
            <a:ext cx="2377440" cy="685800"/>
          </a:xfrm>
          <a:prstGeom prst="rect">
            <a:avLst/>
          </a:prstGeom>
          <a:noFill/>
          <a:ln/>
        </p:spPr>
        <p:txBody>
          <a:bodyPr wrap="square" lIns="0" tIns="0" rIns="0" bIns="0" rtlCol="0" anchor="b"/>
          <a:lstStyle/>
          <a:p>
            <a:pPr indent="0" marL="0">
              <a:buNone/>
            </a:pPr>
            <a:r>
              <a:rPr lang="en-US" sz="3600" b="1" dirty="0">
                <a:solidFill>
                  <a:schemeClr val="accent1"/>
                </a:solidFill>
              </a:rPr>
              <a:t>57,1 %</a:t>
            </a:r>
            <a:endParaRPr lang="en-US" sz="3600" dirty="0"/>
          </a:p>
        </p:txBody>
      </p:sp>
      <p:sp>
        <p:nvSpPr>
          <p:cNvPr id="7" name="Text 4"/>
          <p:cNvSpPr txBox="1"/>
          <p:nvPr/>
        </p:nvSpPr>
        <p:spPr>
          <a:xfrm>
            <a:off x="6217920" y="1947672"/>
            <a:ext cx="2377440" cy="548640"/>
          </a:xfrm>
          <a:prstGeom prst="rect">
            <a:avLst/>
          </a:prstGeom>
          <a:noFill/>
          <a:ln/>
        </p:spPr>
        <p:txBody>
          <a:bodyPr wrap="square" lIns="0" tIns="0" rIns="0" bIns="0" rtlCol="0" anchor="t"/>
          <a:lstStyle/>
          <a:p>
            <a:pPr indent="0" marL="0">
              <a:buNone/>
            </a:pPr>
            <a:r>
              <a:rPr lang="en-US" sz="1400" dirty="0">
                <a:solidFill>
                  <a:schemeClr val="tx1"/>
                </a:solidFill>
              </a:rPr>
              <a:t>accuracy val. du CNN + Dropout (E1), notre meilleur modèle</a:t>
            </a:r>
            <a:endParaRPr lang="en-US" sz="1400" dirty="0"/>
          </a:p>
        </p:txBody>
      </p:sp>
      <p:sp>
        <p:nvSpPr>
          <p:cNvPr id="8" name="Text 5"/>
          <p:cNvSpPr txBox="1"/>
          <p:nvPr/>
        </p:nvSpPr>
        <p:spPr>
          <a:xfrm>
            <a:off x="8778240" y="1234440"/>
            <a:ext cx="2834640" cy="685800"/>
          </a:xfrm>
          <a:prstGeom prst="rect">
            <a:avLst/>
          </a:prstGeom>
          <a:noFill/>
          <a:ln/>
        </p:spPr>
        <p:txBody>
          <a:bodyPr wrap="square" lIns="0" tIns="0" rIns="0" bIns="0" rtlCol="0" anchor="b"/>
          <a:lstStyle/>
          <a:p>
            <a:pPr indent="0" marL="0">
              <a:buNone/>
            </a:pPr>
            <a:r>
              <a:rPr lang="en-US" sz="3600" b="1" dirty="0">
                <a:solidFill>
                  <a:schemeClr val="tx2"/>
                </a:solidFill>
              </a:rPr>
              <a:t>÷ 2</a:t>
            </a:r>
            <a:endParaRPr lang="en-US" sz="3600" dirty="0"/>
          </a:p>
        </p:txBody>
      </p:sp>
      <p:sp>
        <p:nvSpPr>
          <p:cNvPr id="9" name="Text 6"/>
          <p:cNvSpPr txBox="1"/>
          <p:nvPr/>
        </p:nvSpPr>
        <p:spPr>
          <a:xfrm>
            <a:off x="8778240" y="1947672"/>
            <a:ext cx="2834640" cy="548640"/>
          </a:xfrm>
          <a:prstGeom prst="rect">
            <a:avLst/>
          </a:prstGeom>
          <a:noFill/>
          <a:ln/>
        </p:spPr>
        <p:txBody>
          <a:bodyPr wrap="square" lIns="0" tIns="0" rIns="0" bIns="0" rtlCol="0" anchor="t"/>
          <a:lstStyle/>
          <a:p>
            <a:pPr indent="0" marL="0">
              <a:buNone/>
            </a:pPr>
            <a:r>
              <a:rPr lang="en-US" sz="1400" dirty="0">
                <a:solidFill>
                  <a:schemeClr val="tx1"/>
                </a:solidFill>
              </a:rPr>
              <a:t>surapprentissage : écart train / val 6,3 → 3,2 pts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17920" y="2697480"/>
          <a:ext cx="5394960" cy="914400"/>
        </p:xfrm>
        <a:graphic>
          <a:graphicData uri="http://schemas.openxmlformats.org/drawingml/2006/table">
            <a:tbl>
              <a:tblPr/>
              <a:tblGrid>
                <a:gridCol w="1783080"/>
                <a:gridCol w="685800"/>
                <a:gridCol w="731520"/>
                <a:gridCol w="548640"/>
                <a:gridCol w="960120"/>
                <a:gridCol w="685800"/>
              </a:tblGrid>
              <a:tr h="24688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Expérience (validation)</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Acc. val</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F1 macro</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Écart</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Rappel Dégoût</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Époques</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r>
              <a:tr h="246888">
                <a:tc>
                  <a:txBody>
                    <a:bodyPr/>
                    <a:lstStyle/>
                    <a:p>
                      <a:pPr algn="l" indent="0" marL="0">
                        <a:buNone/>
                      </a:pPr>
                      <a:r>
                        <a:rPr lang="en-US" sz="1100" b="1" dirty="0">
                          <a:solidFill>
                            <a:srgbClr val="1F2933"/>
                          </a:solidFill>
                          <a:latin typeface="Calibri" pitchFamily="34" charset="0"/>
                          <a:ea typeface="Calibri" pitchFamily="34" charset="-122"/>
                          <a:cs typeface="Calibri" pitchFamily="34" charset="-120"/>
                        </a:rPr>
                        <a:t>E0 CNN de base</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53,2 %</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0,454</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6,3</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0,02</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r>
              <a:tr h="246888">
                <a:tc>
                  <a:txBody>
                    <a:bodyPr/>
                    <a:lstStyle/>
                    <a:p>
                      <a:pPr algn="l" indent="0" marL="0">
                        <a:buNone/>
                      </a:pPr>
                      <a:r>
                        <a:rPr lang="en-US" sz="1100" b="1" dirty="0">
                          <a:solidFill>
                            <a:srgbClr val="FF6B5B"/>
                          </a:solidFill>
                          <a:latin typeface="Calibri" pitchFamily="34" charset="0"/>
                          <a:ea typeface="Calibri" pitchFamily="34" charset="-122"/>
                          <a:cs typeface="Calibri" pitchFamily="34" charset="-120"/>
                        </a:rPr>
                        <a:t>E1 Dropout 0,25 / 0,5</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00" b="1" dirty="0">
                          <a:solidFill>
                            <a:srgbClr val="FF6B5B"/>
                          </a:solidFill>
                          <a:latin typeface="Calibri" pitchFamily="34" charset="0"/>
                          <a:ea typeface="Calibri" pitchFamily="34" charset="-122"/>
                          <a:cs typeface="Calibri" pitchFamily="34" charset="-120"/>
                        </a:rPr>
                        <a:t>57,1 %</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00" b="1" dirty="0">
                          <a:solidFill>
                            <a:srgbClr val="FF6B5B"/>
                          </a:solidFill>
                          <a:latin typeface="Calibri" pitchFamily="34" charset="0"/>
                          <a:ea typeface="Calibri" pitchFamily="34" charset="-122"/>
                          <a:cs typeface="Calibri" pitchFamily="34" charset="-120"/>
                        </a:rPr>
                        <a:t>0,509</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00" b="1" dirty="0">
                          <a:solidFill>
                            <a:srgbClr val="FF6B5B"/>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00" b="1" dirty="0">
                          <a:solidFill>
                            <a:srgbClr val="FF6B5B"/>
                          </a:solidFill>
                          <a:latin typeface="Calibri" pitchFamily="34" charset="0"/>
                          <a:ea typeface="Calibri" pitchFamily="34" charset="-122"/>
                          <a:cs typeface="Calibri" pitchFamily="34" charset="-120"/>
                        </a:rPr>
                        <a:t>0,15</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00" b="1" dirty="0">
                          <a:solidFill>
                            <a:srgbClr val="FF6B5B"/>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r>
              <a:tr h="246888">
                <a:tc>
                  <a:txBody>
                    <a:bodyPr/>
                    <a:lstStyle/>
                    <a:p>
                      <a:pPr algn="l" indent="0" marL="0">
                        <a:buNone/>
                      </a:pPr>
                      <a:r>
                        <a:rPr lang="en-US" sz="1100" b="1" dirty="0">
                          <a:solidFill>
                            <a:srgbClr val="1F2933"/>
                          </a:solidFill>
                          <a:latin typeface="Calibri" pitchFamily="34" charset="0"/>
                          <a:ea typeface="Calibri" pitchFamily="34" charset="-122"/>
                          <a:cs typeface="Calibri" pitchFamily="34" charset="-120"/>
                        </a:rPr>
                        <a:t>E3 Augmentation</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56,5 %</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0,503</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3,8</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0,15</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40</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r>
              <a:tr h="246888">
                <a:tc>
                  <a:txBody>
                    <a:bodyPr/>
                    <a:lstStyle/>
                    <a:p>
                      <a:pPr algn="l" indent="0" marL="0">
                        <a:buNone/>
                      </a:pPr>
                      <a:r>
                        <a:rPr lang="en-US" sz="1100" b="1" dirty="0">
                          <a:solidFill>
                            <a:srgbClr val="1F2933"/>
                          </a:solidFill>
                          <a:latin typeface="Calibri" pitchFamily="34" charset="0"/>
                          <a:ea typeface="Calibri" pitchFamily="34" charset="-122"/>
                          <a:cs typeface="Calibri" pitchFamily="34" charset="-120"/>
                        </a:rPr>
                        <a:t>E4 Poids de classes</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49,5 %</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0,461</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2,8</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0,37</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r>
              <a:tr h="246888">
                <a:tc>
                  <a:txBody>
                    <a:bodyPr/>
                    <a:lstStyle/>
                    <a:p>
                      <a:pPr algn="l" indent="0" marL="0">
                        <a:buNone/>
                      </a:pPr>
                      <a:r>
                        <a:rPr lang="en-US" sz="1100" b="1" dirty="0">
                          <a:solidFill>
                            <a:srgbClr val="1F2933"/>
                          </a:solidFill>
                          <a:latin typeface="Calibri" pitchFamily="34" charset="0"/>
                          <a:ea typeface="Calibri" pitchFamily="34" charset="-122"/>
                          <a:cs typeface="Calibri" pitchFamily="34" charset="-120"/>
                        </a:rPr>
                        <a:t>E2 BatchNorm</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52,5 %</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0,443</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7,1</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r>
              <a:tr h="246888">
                <a:tc>
                  <a:txBody>
                    <a:bodyPr/>
                    <a:lstStyle/>
                    <a:p>
                      <a:pPr algn="l" indent="0" marL="0">
                        <a:buNone/>
                      </a:pPr>
                      <a:r>
                        <a:rPr lang="en-US" sz="1100" b="1" dirty="0">
                          <a:solidFill>
                            <a:srgbClr val="1F2933"/>
                          </a:solidFill>
                          <a:latin typeface="Calibri" pitchFamily="34" charset="0"/>
                          <a:ea typeface="Calibri" pitchFamily="34" charset="-122"/>
                          <a:cs typeface="Calibri" pitchFamily="34" charset="-120"/>
                        </a:rPr>
                        <a:t>Combinaison E1 + E3 + E4</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49,5 %</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0,426</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−9,6</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0,62</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00" dirty="0">
                          <a:solidFill>
                            <a:srgbClr val="1F2933"/>
                          </a:solidFill>
                          <a:latin typeface="Calibri" pitchFamily="34" charset="0"/>
                          <a:ea typeface="Calibri" pitchFamily="34" charset="-122"/>
                          <a:cs typeface="Calibri" pitchFamily="34" charset="-120"/>
                        </a:rPr>
                        <a:t>68</a:t>
                      </a:r>
                      <a:endParaRPr lang="en-US" sz="110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r>
            </a:tbl>
          </a:graphicData>
        </a:graphic>
      </p:graphicFrame>
      <p:sp>
        <p:nvSpPr>
          <p:cNvPr id="11" name="Text 7"/>
          <p:cNvSpPr txBox="1"/>
          <p:nvPr/>
        </p:nvSpPr>
        <p:spPr>
          <a:xfrm>
            <a:off x="6217920" y="4617720"/>
            <a:ext cx="5394960" cy="16916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rPr>
              <a:t>Une seule modification à la fois, même graine, mêmes paramètres : l'écart (train − val, en pts) vient de la modification.</a:t>
            </a:r>
            <a:endParaRPr lang="en-US" sz="1150" dirty="0"/>
          </a:p>
          <a:p>
            <a:pPr marL="342900" indent="-342900">
              <a:spcAft>
                <a:spcPts val="300"/>
              </a:spcAft>
              <a:buSzPct val="100000"/>
              <a:buChar char="•"/>
            </a:pPr>
            <a:r>
              <a:rPr lang="en-US" sz="1150" dirty="0">
                <a:solidFill>
                  <a:schemeClr val="tx1"/>
                </a:solidFill>
              </a:rPr>
              <a:t>Dropout : 25 % des neurones éteints au hasard après chaque bloc, 50 % avant la sortie ; +5,5 pts de F1 macro.</a:t>
            </a:r>
            <a:endParaRPr lang="en-US" sz="1150" dirty="0"/>
          </a:p>
          <a:p>
            <a:pPr marL="342900" indent="-342900">
              <a:spcAft>
                <a:spcPts val="300"/>
              </a:spcAft>
              <a:buSzPct val="100000"/>
              <a:buChar char="•"/>
            </a:pPr>
            <a:r>
              <a:rPr lang="en-US" sz="1150" dirty="0">
                <a:solidFill>
                  <a:schemeClr val="tx1"/>
                </a:solidFill>
              </a:rPr>
              <a:t>Combinaison : train 39,9 % &lt; val 49,5 %, elle sous-apprend (trop de régularisation), mais rappel Dégoût 0,62 ; au test : 48,6 %.</a:t>
            </a:r>
            <a:endParaRPr lang="en-US" sz="1150" dirty="0"/>
          </a:p>
          <a:p>
            <a:pPr marL="342900" indent="-342900">
              <a:spcAft>
                <a:spcPts val="300"/>
              </a:spcAft>
              <a:buSzPct val="100000"/>
              <a:buChar char="•"/>
            </a:pPr>
            <a:r>
              <a:rPr lang="en-US" sz="1150" dirty="0">
                <a:solidFill>
                  <a:schemeClr val="tx1"/>
                </a:solidFill>
              </a:rPr>
              <a:t>MobileNetV2 (ImageNet, fine-tuné) : 51,6 % en val., 52,4 % au test, 3,3 × plus de paramètres.</a:t>
            </a:r>
            <a:endParaRPr lang="en-US" sz="11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astille"/>
          <p:cNvSpPr/>
          <p:nvPr/>
        </p:nvSpPr>
        <p:spPr>
          <a:xfrm>
            <a:off x="548640" y="438912"/>
            <a:ext cx="502920" cy="502920"/>
          </a:xfrm>
          <a:prstGeom prst="ellipse">
            <a:avLst/>
          </a:prstGeom>
          <a:solidFill>
            <a:schemeClr val="accent1"/>
          </a:solidFill>
          <a:ln w="12700">
            <a:solidFill>
              <a:schemeClr val="accent1"/>
            </a:solidFill>
            <a:prstDash val="solid"/>
          </a:ln>
        </p:spPr>
      </p:sp>
      <p:sp>
        <p:nvSpPr>
          <p:cNvPr id="3" name="numero"/>
          <p:cNvSpPr txBox="1"/>
          <p:nvPr/>
        </p:nvSpPr>
        <p:spPr>
          <a:xfrm>
            <a:off x="548640" y="43891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4" name="Text 0"/>
          <p:cNvSpPr/>
          <p:nvPr>
            <p:ph idx="100" type="title" hasCustomPrompt="1"/>
          </p:nvPr>
        </p:nvSpPr>
        <p:spPr>
          <a:xfrm>
            <a:off x="1325880" y="347472"/>
            <a:ext cx="10332720" cy="685800"/>
          </a:xfrm>
          <a:prstGeom prst="rect">
            <a:avLst/>
          </a:prstGeom>
          <a:noFill/>
          <a:ln/>
        </p:spPr>
        <p:txBody>
          <a:bodyPr wrap="square" lIns="0" tIns="0" rIns="0" bIns="0" rtlCol="0" anchor="ctr"/>
          <a:lstStyle/>
          <a:p>
            <a:pPr algn="l" indent="0" marL="0">
              <a:buNone/>
            </a:pPr>
            <a:r>
              <a:rPr lang="en-US" sz="3400" b="1" dirty="0">
                <a:solidFill>
                  <a:schemeClr val="tx2"/>
                </a:solidFill>
              </a:rPr>
              <a:t>Joie et Surprise reconnues, Tristesse sert de refuge</a:t>
            </a:r>
            <a:endParaRPr lang="en-US" sz="3400" dirty="0"/>
          </a:p>
        </p:txBody>
      </p:sp>
      <p:pic>
        <p:nvPicPr>
          <p:cNvPr id="5" name="matrice de confusion" descr="/home/claude/deck/img/c_confusion.png">    </p:cNvPr>
          <p:cNvPicPr>
            <a:picLocks noChangeAspect="1"/>
          </p:cNvPicPr>
          <p:nvPr/>
        </p:nvPicPr>
        <p:blipFill>
          <a:blip r:embed="rId1"/>
          <a:stretch>
            <a:fillRect/>
          </a:stretch>
        </p:blipFill>
        <p:spPr>
          <a:xfrm>
            <a:off x="548640" y="1280160"/>
            <a:ext cx="5394960" cy="4121915"/>
          </a:xfrm>
          <a:prstGeom prst="rect">
            <a:avLst/>
          </a:prstGeom>
        </p:spPr>
      </p:pic>
      <p:sp>
        <p:nvSpPr>
          <p:cNvPr id="6" name="Text 3"/>
          <p:cNvSpPr txBox="1"/>
          <p:nvPr/>
        </p:nvSpPr>
        <p:spPr>
          <a:xfrm>
            <a:off x="548640" y="5475227"/>
            <a:ext cx="5394960" cy="274320"/>
          </a:xfrm>
          <a:prstGeom prst="rect">
            <a:avLst/>
          </a:prstGeom>
          <a:noFill/>
          <a:ln/>
        </p:spPr>
        <p:txBody>
          <a:bodyPr wrap="square" lIns="0" tIns="0" rIns="0" bIns="0" rtlCol="0" anchor="ctr"/>
          <a:lstStyle/>
          <a:p>
            <a:pPr indent="0" marL="0">
              <a:buNone/>
            </a:pPr>
            <a:r>
              <a:rPr lang="en-US" sz="1100" dirty="0">
                <a:solidFill>
                  <a:schemeClr val="accent3"/>
                </a:solidFill>
              </a:rPr>
              <a:t>Matrice de confusion du CNN de base sur le test (diagonale = rappel)</a:t>
            </a:r>
            <a:endParaRPr lang="en-US" sz="1100" dirty="0"/>
          </a:p>
        </p:txBody>
      </p:sp>
      <p:sp>
        <p:nvSpPr>
          <p:cNvPr id="7" name="Text 4"/>
          <p:cNvSpPr txBox="1"/>
          <p:nvPr/>
        </p:nvSpPr>
        <p:spPr>
          <a:xfrm>
            <a:off x="6400800" y="1234440"/>
            <a:ext cx="1691640" cy="685800"/>
          </a:xfrm>
          <a:prstGeom prst="rect">
            <a:avLst/>
          </a:prstGeom>
          <a:noFill/>
          <a:ln/>
        </p:spPr>
        <p:txBody>
          <a:bodyPr wrap="square" lIns="0" tIns="0" rIns="0" bIns="0" rtlCol="0" anchor="b"/>
          <a:lstStyle/>
          <a:p>
            <a:pPr indent="0" marL="0">
              <a:buNone/>
            </a:pPr>
            <a:r>
              <a:rPr lang="en-US" sz="3000" b="1" dirty="0">
                <a:solidFill>
                  <a:schemeClr val="tx2"/>
                </a:solidFill>
              </a:rPr>
              <a:t>53,0 %</a:t>
            </a:r>
            <a:endParaRPr lang="en-US" sz="3000" dirty="0"/>
          </a:p>
        </p:txBody>
      </p:sp>
      <p:sp>
        <p:nvSpPr>
          <p:cNvPr id="8" name="Text 5"/>
          <p:cNvSpPr txBox="1"/>
          <p:nvPr/>
        </p:nvSpPr>
        <p:spPr>
          <a:xfrm>
            <a:off x="6400800" y="1947672"/>
            <a:ext cx="1691640" cy="548640"/>
          </a:xfrm>
          <a:prstGeom prst="rect">
            <a:avLst/>
          </a:prstGeom>
          <a:noFill/>
          <a:ln/>
        </p:spPr>
        <p:txBody>
          <a:bodyPr wrap="square" lIns="0" tIns="0" rIns="0" bIns="0" rtlCol="0" anchor="t"/>
          <a:lstStyle/>
          <a:p>
            <a:pPr indent="0" marL="0">
              <a:buNone/>
            </a:pPr>
            <a:r>
              <a:rPr lang="en-US" sz="1400" dirty="0">
                <a:solidFill>
                  <a:schemeClr val="tx1"/>
                </a:solidFill>
              </a:rPr>
              <a:t>accuracy test (dense : 39,1 %)</a:t>
            </a:r>
            <a:endParaRPr lang="en-US" sz="1400" dirty="0"/>
          </a:p>
        </p:txBody>
      </p:sp>
      <p:sp>
        <p:nvSpPr>
          <p:cNvPr id="9" name="Text 6"/>
          <p:cNvSpPr txBox="1"/>
          <p:nvPr/>
        </p:nvSpPr>
        <p:spPr>
          <a:xfrm>
            <a:off x="8183880" y="1234440"/>
            <a:ext cx="1691640" cy="685800"/>
          </a:xfrm>
          <a:prstGeom prst="rect">
            <a:avLst/>
          </a:prstGeom>
          <a:noFill/>
          <a:ln/>
        </p:spPr>
        <p:txBody>
          <a:bodyPr wrap="square" lIns="0" tIns="0" rIns="0" bIns="0" rtlCol="0" anchor="b"/>
          <a:lstStyle/>
          <a:p>
            <a:pPr indent="0" marL="0">
              <a:buNone/>
            </a:pPr>
            <a:r>
              <a:rPr lang="en-US" sz="3000" b="1" dirty="0">
                <a:solidFill>
                  <a:schemeClr val="accent2"/>
                </a:solidFill>
              </a:rPr>
              <a:t>72,4 %</a:t>
            </a:r>
            <a:endParaRPr lang="en-US" sz="3000" dirty="0"/>
          </a:p>
        </p:txBody>
      </p:sp>
      <p:sp>
        <p:nvSpPr>
          <p:cNvPr id="10" name="Text 7"/>
          <p:cNvSpPr txBox="1"/>
          <p:nvPr/>
        </p:nvSpPr>
        <p:spPr>
          <a:xfrm>
            <a:off x="8183880" y="1947672"/>
            <a:ext cx="1691640" cy="548640"/>
          </a:xfrm>
          <a:prstGeom prst="rect">
            <a:avLst/>
          </a:prstGeom>
          <a:noFill/>
          <a:ln/>
        </p:spPr>
        <p:txBody>
          <a:bodyPr wrap="square" lIns="0" tIns="0" rIns="0" bIns="0" rtlCol="0" anchor="t"/>
          <a:lstStyle/>
          <a:p>
            <a:pPr indent="0" marL="0">
              <a:buNone/>
            </a:pPr>
            <a:r>
              <a:rPr lang="en-US" sz="1400" dirty="0">
                <a:solidFill>
                  <a:schemeClr val="tx1"/>
                </a:solidFill>
              </a:rPr>
              <a:t>bonne réponse dans le top 2</a:t>
            </a:r>
            <a:endParaRPr lang="en-US" sz="1400" dirty="0"/>
          </a:p>
        </p:txBody>
      </p:sp>
      <p:sp>
        <p:nvSpPr>
          <p:cNvPr id="11" name="Text 8"/>
          <p:cNvSpPr txBox="1"/>
          <p:nvPr/>
        </p:nvSpPr>
        <p:spPr>
          <a:xfrm>
            <a:off x="9966960" y="1234440"/>
            <a:ext cx="1645920" cy="685800"/>
          </a:xfrm>
          <a:prstGeom prst="rect">
            <a:avLst/>
          </a:prstGeom>
          <a:noFill/>
          <a:ln/>
        </p:spPr>
        <p:txBody>
          <a:bodyPr wrap="square" lIns="0" tIns="0" rIns="0" bIns="0" rtlCol="0" anchor="b"/>
          <a:lstStyle/>
          <a:p>
            <a:pPr indent="0" marL="0">
              <a:buNone/>
            </a:pPr>
            <a:r>
              <a:rPr lang="en-US" sz="3000" b="1" dirty="0">
                <a:solidFill>
                  <a:schemeClr val="accent1"/>
                </a:solidFill>
              </a:rPr>
              <a:t>0,447</a:t>
            </a:r>
            <a:endParaRPr lang="en-US" sz="3000" dirty="0"/>
          </a:p>
        </p:txBody>
      </p:sp>
      <p:sp>
        <p:nvSpPr>
          <p:cNvPr id="12" name="Text 9"/>
          <p:cNvSpPr txBox="1"/>
          <p:nvPr/>
        </p:nvSpPr>
        <p:spPr>
          <a:xfrm>
            <a:off x="9966960" y="1947672"/>
            <a:ext cx="1645920" cy="548640"/>
          </a:xfrm>
          <a:prstGeom prst="rect">
            <a:avLst/>
          </a:prstGeom>
          <a:noFill/>
          <a:ln/>
        </p:spPr>
        <p:txBody>
          <a:bodyPr wrap="square" lIns="0" tIns="0" rIns="0" bIns="0" rtlCol="0" anchor="t"/>
          <a:lstStyle/>
          <a:p>
            <a:pPr indent="0" marL="0">
              <a:buNone/>
            </a:pPr>
            <a:r>
              <a:rPr lang="en-US" sz="1400" dirty="0">
                <a:solidFill>
                  <a:schemeClr val="tx1"/>
                </a:solidFill>
              </a:rPr>
              <a:t>F1 macro test (dense : 0,300)</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0" y="2606040"/>
          <a:ext cx="5212080" cy="914400"/>
        </p:xfrm>
        <a:graphic>
          <a:graphicData uri="http://schemas.openxmlformats.org/drawingml/2006/table">
            <a:tbl>
              <a:tblPr/>
              <a:tblGrid>
                <a:gridCol w="1234440"/>
                <a:gridCol w="914400"/>
                <a:gridCol w="822960"/>
                <a:gridCol w="731520"/>
                <a:gridCol w="1508760"/>
              </a:tblGrid>
              <a:tr h="24688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Expression</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Précision</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Rappel</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F1</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Gain rappel / dense</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14213D"/>
                    </a:solidFill>
                  </a:tcPr>
                </a:tc>
              </a:tr>
              <a:tr h="246888">
                <a:tc>
                  <a:txBody>
                    <a:bodyPr/>
                    <a:lstStyle/>
                    <a:p>
                      <a:pPr algn="l" indent="0" marL="0">
                        <a:buNone/>
                      </a:pPr>
                      <a:r>
                        <a:rPr lang="en-US" sz="1150" b="1" dirty="0">
                          <a:solidFill>
                            <a:srgbClr val="1F2933"/>
                          </a:solidFill>
                          <a:latin typeface="Calibri" pitchFamily="34" charset="0"/>
                          <a:ea typeface="Calibri" pitchFamily="34" charset="-122"/>
                          <a:cs typeface="Calibri" pitchFamily="34" charset="-120"/>
                        </a:rPr>
                        <a:t>Joie</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0,81</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0,70</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0,75</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+1 pt</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r>
              <a:tr h="246888">
                <a:tc>
                  <a:txBody>
                    <a:bodyPr/>
                    <a:lstStyle/>
                    <a:p>
                      <a:pPr algn="l" indent="0" marL="0">
                        <a:buNone/>
                      </a:pPr>
                      <a:r>
                        <a:rPr lang="en-US" sz="1150" b="1" dirty="0">
                          <a:solidFill>
                            <a:srgbClr val="1F2933"/>
                          </a:solidFill>
                          <a:latin typeface="Calibri" pitchFamily="34" charset="0"/>
                          <a:ea typeface="Calibri" pitchFamily="34" charset="-122"/>
                          <a:cs typeface="Calibri" pitchFamily="34" charset="-120"/>
                        </a:rPr>
                        <a:t>Surprise</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0,68</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0,68</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0,68</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+20 pts</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r>
              <a:tr h="246888">
                <a:tc>
                  <a:txBody>
                    <a:bodyPr/>
                    <a:lstStyle/>
                    <a:p>
                      <a:pPr algn="l" indent="0" marL="0">
                        <a:buNone/>
                      </a:pPr>
                      <a:r>
                        <a:rPr lang="en-US" sz="1150" b="1" dirty="0">
                          <a:solidFill>
                            <a:srgbClr val="1F2933"/>
                          </a:solidFill>
                          <a:latin typeface="Calibri" pitchFamily="34" charset="0"/>
                          <a:ea typeface="Calibri" pitchFamily="34" charset="-122"/>
                          <a:cs typeface="Calibri" pitchFamily="34" charset="-120"/>
                        </a:rPr>
                        <a:t>Neutre</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0,47</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0,52</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0,49</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+18 pts</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r>
              <a:tr h="246888">
                <a:tc>
                  <a:txBody>
                    <a:bodyPr/>
                    <a:lstStyle/>
                    <a:p>
                      <a:pPr algn="l" indent="0" marL="0">
                        <a:buNone/>
                      </a:pPr>
                      <a:r>
                        <a:rPr lang="en-US" sz="1150" b="1" dirty="0">
                          <a:solidFill>
                            <a:srgbClr val="1F2933"/>
                          </a:solidFill>
                          <a:latin typeface="Calibri" pitchFamily="34" charset="0"/>
                          <a:ea typeface="Calibri" pitchFamily="34" charset="-122"/>
                          <a:cs typeface="Calibri" pitchFamily="34" charset="-120"/>
                        </a:rPr>
                        <a:t>Tristesse</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0,38</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0,53</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0,44</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+11 pts</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r>
              <a:tr h="246888">
                <a:tc>
                  <a:txBody>
                    <a:bodyPr/>
                    <a:lstStyle/>
                    <a:p>
                      <a:pPr algn="l" indent="0" marL="0">
                        <a:buNone/>
                      </a:pPr>
                      <a:r>
                        <a:rPr lang="en-US" sz="1150" b="1" dirty="0">
                          <a:solidFill>
                            <a:srgbClr val="1F2933"/>
                          </a:solidFill>
                          <a:latin typeface="Calibri" pitchFamily="34" charset="0"/>
                          <a:ea typeface="Calibri" pitchFamily="34" charset="-122"/>
                          <a:cs typeface="Calibri" pitchFamily="34" charset="-120"/>
                        </a:rPr>
                        <a:t>Colère</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0,41</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0,46</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0,44</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+33 pts</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r>
              <a:tr h="246888">
                <a:tc>
                  <a:txBody>
                    <a:bodyPr/>
                    <a:lstStyle/>
                    <a:p>
                      <a:pPr algn="l" indent="0" marL="0">
                        <a:buNone/>
                      </a:pPr>
                      <a:r>
                        <a:rPr lang="en-US" sz="1150" b="1" dirty="0">
                          <a:solidFill>
                            <a:srgbClr val="1F2933"/>
                          </a:solidFill>
                          <a:latin typeface="Calibri" pitchFamily="34" charset="0"/>
                          <a:ea typeface="Calibri" pitchFamily="34" charset="-122"/>
                          <a:cs typeface="Calibri" pitchFamily="34" charset="-120"/>
                        </a:rPr>
                        <a:t>Peur</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0,39</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0,25</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0,31</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+13 pts</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2F4F7"/>
                    </a:solidFill>
                  </a:tcPr>
                </a:tc>
              </a:tr>
              <a:tr h="246888">
                <a:tc>
                  <a:txBody>
                    <a:bodyPr/>
                    <a:lstStyle/>
                    <a:p>
                      <a:pPr algn="l" indent="0" marL="0">
                        <a:buNone/>
                      </a:pPr>
                      <a:r>
                        <a:rPr lang="en-US" sz="1150" b="1" dirty="0">
                          <a:solidFill>
                            <a:srgbClr val="1F2933"/>
                          </a:solidFill>
                          <a:latin typeface="Calibri" pitchFamily="34" charset="0"/>
                          <a:ea typeface="Calibri" pitchFamily="34" charset="-122"/>
                          <a:cs typeface="Calibri" pitchFamily="34" charset="-120"/>
                        </a:rPr>
                        <a:t>Dégoût</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0,50</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0,01</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0,02</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+1 pt</a:t>
                      </a:r>
                      <a:endParaRPr lang="en-US" sz="1150" dirty="0">
                        <a:latin typeface="Calibri" charset="0"/>
                        <a:ea typeface="Calibri" charset="0"/>
                        <a:cs typeface="Calibri" charset="0"/>
                      </a:endParaRPr>
                    </a:p>
                  </a:txBody>
                  <a:tcPr marL="54864" marR="54864" marT="18288" marB="18288" anchor="ctr">
                    <a:lnL w="6350" cap="flat" cmpd="sng" algn="ctr">
                      <a:solidFill>
                        <a:srgbClr val="E1E5EB"/>
                      </a:solidFill>
                      <a:prstDash val="solid"/>
                      <a:round/>
                      <a:headEnd type="none" w="med" len="med"/>
                      <a:tailEnd type="none" w="med" len="med"/>
                    </a:lnL>
                    <a:lnR w="6350" cap="flat" cmpd="sng" algn="ctr">
                      <a:solidFill>
                        <a:srgbClr val="E1E5EB"/>
                      </a:solidFill>
                      <a:prstDash val="solid"/>
                      <a:round/>
                      <a:headEnd type="none" w="med" len="med"/>
                      <a:tailEnd type="none" w="med" len="med"/>
                    </a:lnR>
                    <a:lnT w="6350" cap="flat" cmpd="sng" algn="ctr">
                      <a:solidFill>
                        <a:srgbClr val="E1E5EB"/>
                      </a:solidFill>
                      <a:prstDash val="solid"/>
                      <a:round/>
                      <a:headEnd type="none" w="med" len="med"/>
                      <a:tailEnd type="none" w="med" len="med"/>
                    </a:lnT>
                    <a:lnB w="6350" cap="flat" cmpd="sng" algn="ctr">
                      <a:solidFill>
                        <a:srgbClr val="E1E5EB"/>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6400800" y="4709160"/>
            <a:ext cx="5212080" cy="1554480"/>
          </a:xfrm>
          <a:prstGeom prst="rect">
            <a:avLst/>
          </a:prstGeom>
          <a:noFill/>
          <a:ln/>
        </p:spPr>
        <p:txBody>
          <a:bodyPr wrap="square" lIns="0" tIns="0" rIns="0" bIns="0" rtlCol="0" anchor="t"/>
          <a:lstStyle/>
          <a:p>
            <a:pPr indent="0" marL="0">
              <a:spcAft>
                <a:spcPts val="400"/>
              </a:spcAft>
              <a:buNone/>
            </a:pPr>
            <a:r>
              <a:rPr lang="en-US" sz="1150" b="1" dirty="0">
                <a:solidFill>
                  <a:schemeClr val="tx1"/>
                </a:solidFill>
              </a:rPr>
              <a:t>Refuge : </a:t>
            </a:r>
            <a:pPr indent="0" marL="0">
              <a:spcAft>
                <a:spcPts val="400"/>
              </a:spcAft>
              <a:buNone/>
            </a:pPr>
            <a:r>
              <a:rPr lang="en-US" sz="1150" dirty="0">
                <a:solidFill>
                  <a:schemeClr val="tx1"/>
                </a:solidFill>
              </a:rPr>
              <a:t>Peur → Tristesse 29 %, Neutre → Tristesse 25 %, Colère → Tristesse 24 % ; Tristesse est prédite 1 710 fois pour 1 247 vraies.</a:t>
            </a:r>
            <a:endParaRPr lang="en-US" sz="1150" dirty="0"/>
          </a:p>
          <a:p>
            <a:pPr indent="0" marL="0">
              <a:spcAft>
                <a:spcPts val="400"/>
              </a:spcAft>
              <a:buNone/>
            </a:pPr>
            <a:r>
              <a:rPr lang="en-US" sz="1150" b="1" dirty="0">
                <a:solidFill>
                  <a:schemeClr val="tx1"/>
                </a:solidFill>
              </a:rPr>
              <a:t>Dégoût : </a:t>
            </a:r>
            <a:pPr indent="0" marL="0">
              <a:spcAft>
                <a:spcPts val="400"/>
              </a:spcAft>
              <a:buNone/>
            </a:pPr>
            <a:r>
              <a:rPr lang="en-US" sz="1150" dirty="0">
                <a:solidFill>
                  <a:schemeClr val="tx1"/>
                </a:solidFill>
              </a:rPr>
              <a:t>2 prédictions seulement sur 7 178 images (371 exemples d'entraînement).</a:t>
            </a:r>
            <a:endParaRPr lang="en-US" sz="1150" dirty="0"/>
          </a:p>
          <a:p>
            <a:pPr indent="0" marL="0">
              <a:spcAft>
                <a:spcPts val="400"/>
              </a:spcAft>
              <a:buNone/>
            </a:pPr>
            <a:r>
              <a:rPr lang="en-US" sz="1150" b="1" dirty="0">
                <a:solidFill>
                  <a:schemeClr val="tx1"/>
                </a:solidFill>
              </a:rPr>
              <a:t>Confiance : </a:t>
            </a:r>
            <a:pPr indent="0" marL="0">
              <a:spcAft>
                <a:spcPts val="400"/>
              </a:spcAft>
              <a:buNone/>
            </a:pPr>
            <a:r>
              <a:rPr lang="en-US" sz="1150" dirty="0">
                <a:solidFill>
                  <a:schemeClr val="tx1"/>
                </a:solidFill>
              </a:rPr>
              <a:t>0,63 en moyenne quand il a raison, 0,46 quand il a tort ; les erreurs très sûres sont souvent des étiquettes fausses.</a:t>
            </a:r>
            <a:endParaRPr lang="en-US" sz="11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astille"/>
          <p:cNvSpPr/>
          <p:nvPr/>
        </p:nvSpPr>
        <p:spPr>
          <a:xfrm>
            <a:off x="548640" y="438912"/>
            <a:ext cx="502920" cy="502920"/>
          </a:xfrm>
          <a:prstGeom prst="ellipse">
            <a:avLst/>
          </a:prstGeom>
          <a:solidFill>
            <a:schemeClr val="accent1"/>
          </a:solidFill>
          <a:ln w="12700">
            <a:solidFill>
              <a:schemeClr val="accent1"/>
            </a:solidFill>
            <a:prstDash val="solid"/>
          </a:ln>
        </p:spPr>
      </p:sp>
      <p:sp>
        <p:nvSpPr>
          <p:cNvPr id="3" name="numero"/>
          <p:cNvSpPr txBox="1"/>
          <p:nvPr/>
        </p:nvSpPr>
        <p:spPr>
          <a:xfrm>
            <a:off x="548640" y="43891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4" name="Text 0"/>
          <p:cNvSpPr/>
          <p:nvPr>
            <p:ph idx="100" type="title" hasCustomPrompt="1"/>
          </p:nvPr>
        </p:nvSpPr>
        <p:spPr>
          <a:xfrm>
            <a:off x="1325880" y="347472"/>
            <a:ext cx="10332720" cy="685800"/>
          </a:xfrm>
          <a:prstGeom prst="rect">
            <a:avLst/>
          </a:prstGeom>
          <a:noFill/>
          <a:ln/>
        </p:spPr>
        <p:txBody>
          <a:bodyPr wrap="square" lIns="0" tIns="0" rIns="0" bIns="0" rtlCol="0" anchor="ctr"/>
          <a:lstStyle/>
          <a:p>
            <a:pPr algn="l" indent="0" marL="0">
              <a:buNone/>
            </a:pPr>
            <a:r>
              <a:rPr lang="en-US" sz="3400" b="1" dirty="0">
                <a:solidFill>
                  <a:schemeClr val="tx2"/>
                </a:solidFill>
              </a:rPr>
              <a:t>YOLO trouve les visages, MobileNetV2 lit l'expression</a:t>
            </a:r>
            <a:endParaRPr lang="en-US" sz="3400" dirty="0"/>
          </a:p>
        </p:txBody>
      </p:sp>
      <p:sp>
        <p:nvSpPr>
          <p:cNvPr id="5" name="étape 1"/>
          <p:cNvSpPr/>
          <p:nvPr/>
        </p:nvSpPr>
        <p:spPr>
          <a:xfrm>
            <a:off x="548640" y="1234440"/>
            <a:ext cx="1673352" cy="502920"/>
          </a:xfrm>
          <a:prstGeom prst="roundRect">
            <a:avLst>
              <a:gd name="adj" fmla="val 49091"/>
            </a:avLst>
          </a:prstGeom>
          <a:solidFill>
            <a:schemeClr val="tx2"/>
          </a:solidFill>
          <a:ln w="12700">
            <a:solidFill>
              <a:schemeClr val="tx2"/>
            </a:solidFill>
            <a:prstDash val="solid"/>
          </a:ln>
        </p:spPr>
      </p:sp>
      <p:sp>
        <p:nvSpPr>
          <p:cNvPr id="6" name="Text 4"/>
          <p:cNvSpPr txBox="1"/>
          <p:nvPr/>
        </p:nvSpPr>
        <p:spPr>
          <a:xfrm>
            <a:off x="548640" y="1234440"/>
            <a:ext cx="1673352" cy="50292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Image ou vidéo</a:t>
            </a:r>
            <a:endParaRPr lang="en-US" sz="1300" dirty="0"/>
          </a:p>
        </p:txBody>
      </p:sp>
      <p:sp>
        <p:nvSpPr>
          <p:cNvPr id="7" name="étape 2"/>
          <p:cNvSpPr/>
          <p:nvPr/>
        </p:nvSpPr>
        <p:spPr>
          <a:xfrm>
            <a:off x="2432304" y="1234440"/>
            <a:ext cx="1673352" cy="502920"/>
          </a:xfrm>
          <a:prstGeom prst="roundRect">
            <a:avLst>
              <a:gd name="adj" fmla="val 49091"/>
            </a:avLst>
          </a:prstGeom>
          <a:solidFill>
            <a:schemeClr val="tx2"/>
          </a:solidFill>
          <a:ln w="12700">
            <a:solidFill>
              <a:schemeClr val="tx2"/>
            </a:solidFill>
            <a:prstDash val="solid"/>
          </a:ln>
        </p:spPr>
      </p:sp>
      <p:sp>
        <p:nvSpPr>
          <p:cNvPr id="8" name="Text 6"/>
          <p:cNvSpPr txBox="1"/>
          <p:nvPr/>
        </p:nvSpPr>
        <p:spPr>
          <a:xfrm>
            <a:off x="2432304" y="1234440"/>
            <a:ext cx="1673352" cy="50292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YOLOv8n-face</a:t>
            </a:r>
            <a:endParaRPr lang="en-US" sz="1300" dirty="0"/>
          </a:p>
        </p:txBody>
      </p:sp>
      <p:sp>
        <p:nvSpPr>
          <p:cNvPr id="9" name="étape 3"/>
          <p:cNvSpPr/>
          <p:nvPr/>
        </p:nvSpPr>
        <p:spPr>
          <a:xfrm>
            <a:off x="4315968" y="1234440"/>
            <a:ext cx="1673352" cy="502920"/>
          </a:xfrm>
          <a:prstGeom prst="roundRect">
            <a:avLst>
              <a:gd name="adj" fmla="val 49091"/>
            </a:avLst>
          </a:prstGeom>
          <a:solidFill>
            <a:schemeClr val="tx2"/>
          </a:solidFill>
          <a:ln w="12700">
            <a:solidFill>
              <a:schemeClr val="tx2"/>
            </a:solidFill>
            <a:prstDash val="solid"/>
          </a:ln>
        </p:spPr>
      </p:sp>
      <p:sp>
        <p:nvSpPr>
          <p:cNvPr id="10" name="Text 8"/>
          <p:cNvSpPr txBox="1"/>
          <p:nvPr/>
        </p:nvSpPr>
        <p:spPr>
          <a:xfrm>
            <a:off x="4315968" y="1234440"/>
            <a:ext cx="1673352" cy="50292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Boîtes + NMS</a:t>
            </a:r>
            <a:endParaRPr lang="en-US" sz="1300" dirty="0"/>
          </a:p>
        </p:txBody>
      </p:sp>
      <p:sp>
        <p:nvSpPr>
          <p:cNvPr id="11" name="étape 4"/>
          <p:cNvSpPr/>
          <p:nvPr/>
        </p:nvSpPr>
        <p:spPr>
          <a:xfrm>
            <a:off x="6199632" y="1234440"/>
            <a:ext cx="1673352" cy="502920"/>
          </a:xfrm>
          <a:prstGeom prst="roundRect">
            <a:avLst>
              <a:gd name="adj" fmla="val 49091"/>
            </a:avLst>
          </a:prstGeom>
          <a:solidFill>
            <a:schemeClr val="tx2"/>
          </a:solidFill>
          <a:ln w="12700">
            <a:solidFill>
              <a:schemeClr val="tx2"/>
            </a:solidFill>
            <a:prstDash val="solid"/>
          </a:ln>
        </p:spPr>
      </p:sp>
      <p:sp>
        <p:nvSpPr>
          <p:cNvPr id="12" name="Text 10"/>
          <p:cNvSpPr txBox="1"/>
          <p:nvPr/>
        </p:nvSpPr>
        <p:spPr>
          <a:xfrm>
            <a:off x="6199632" y="1234440"/>
            <a:ext cx="1673352" cy="50292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Gris 48 × 48, /255</a:t>
            </a:r>
            <a:endParaRPr lang="en-US" sz="1300" dirty="0"/>
          </a:p>
        </p:txBody>
      </p:sp>
      <p:sp>
        <p:nvSpPr>
          <p:cNvPr id="13" name="étape 5"/>
          <p:cNvSpPr/>
          <p:nvPr/>
        </p:nvSpPr>
        <p:spPr>
          <a:xfrm>
            <a:off x="8083296" y="1234440"/>
            <a:ext cx="1673352" cy="502920"/>
          </a:xfrm>
          <a:prstGeom prst="roundRect">
            <a:avLst>
              <a:gd name="adj" fmla="val 49091"/>
            </a:avLst>
          </a:prstGeom>
          <a:solidFill>
            <a:schemeClr val="tx2"/>
          </a:solidFill>
          <a:ln w="12700">
            <a:solidFill>
              <a:schemeClr val="tx2"/>
            </a:solidFill>
            <a:prstDash val="solid"/>
          </a:ln>
        </p:spPr>
      </p:sp>
      <p:sp>
        <p:nvSpPr>
          <p:cNvPr id="14" name="Text 12"/>
          <p:cNvSpPr txBox="1"/>
          <p:nvPr/>
        </p:nvSpPr>
        <p:spPr>
          <a:xfrm>
            <a:off x="8083296" y="1234440"/>
            <a:ext cx="1673352" cy="50292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MobileNetV2</a:t>
            </a:r>
            <a:endParaRPr lang="en-US" sz="1300" dirty="0"/>
          </a:p>
        </p:txBody>
      </p:sp>
      <p:sp>
        <p:nvSpPr>
          <p:cNvPr id="15" name="étape 6"/>
          <p:cNvSpPr/>
          <p:nvPr/>
        </p:nvSpPr>
        <p:spPr>
          <a:xfrm>
            <a:off x="9966960" y="1234440"/>
            <a:ext cx="1673352" cy="502920"/>
          </a:xfrm>
          <a:prstGeom prst="roundRect">
            <a:avLst>
              <a:gd name="adj" fmla="val 49091"/>
            </a:avLst>
          </a:prstGeom>
          <a:solidFill>
            <a:schemeClr val="accent1"/>
          </a:solidFill>
          <a:ln w="12700">
            <a:solidFill>
              <a:schemeClr val="accent1"/>
            </a:solidFill>
            <a:prstDash val="solid"/>
          </a:ln>
        </p:spPr>
      </p:sp>
      <p:sp>
        <p:nvSpPr>
          <p:cNvPr id="16" name="Text 14"/>
          <p:cNvSpPr txBox="1"/>
          <p:nvPr/>
        </p:nvSpPr>
        <p:spPr>
          <a:xfrm>
            <a:off x="9966960" y="1234440"/>
            <a:ext cx="1673352" cy="50292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Expression + score</a:t>
            </a:r>
            <a:endParaRPr lang="en-US" sz="1300" dirty="0"/>
          </a:p>
        </p:txBody>
      </p:sp>
      <p:pic>
        <p:nvPicPr>
          <p:cNvPr id="17" name="photo annotée" descr="/home/claude/deck/img/c_photo3.png">    </p:cNvPr>
          <p:cNvPicPr>
            <a:picLocks noChangeAspect="1"/>
          </p:cNvPicPr>
          <p:nvPr/>
        </p:nvPicPr>
        <p:blipFill>
          <a:blip r:embed="rId1"/>
          <a:stretch>
            <a:fillRect/>
          </a:stretch>
        </p:blipFill>
        <p:spPr>
          <a:xfrm>
            <a:off x="548640" y="1920240"/>
            <a:ext cx="4480560" cy="2798641"/>
          </a:xfrm>
          <a:prstGeom prst="rect">
            <a:avLst/>
          </a:prstGeom>
        </p:spPr>
      </p:pic>
      <p:sp>
        <p:nvSpPr>
          <p:cNvPr id="18" name="Text 15"/>
          <p:cNvSpPr txBox="1"/>
          <p:nvPr/>
        </p:nvSpPr>
        <p:spPr>
          <a:xfrm>
            <a:off x="5257800" y="1874520"/>
            <a:ext cx="6355080" cy="2890081"/>
          </a:xfrm>
          <a:prstGeom prst="rect">
            <a:avLst/>
          </a:prstGeom>
          <a:noFill/>
          <a:ln/>
        </p:spPr>
        <p:txBody>
          <a:bodyPr wrap="square" lIns="0" tIns="0" rIns="0" bIns="0" rtlCol="0" anchor="t"/>
          <a:lstStyle/>
          <a:p>
            <a:pPr indent="0" marL="0">
              <a:spcAft>
                <a:spcPts val="400"/>
              </a:spcAft>
              <a:buNone/>
            </a:pPr>
            <a:r>
              <a:rPr lang="en-US" sz="1200" b="1" dirty="0">
                <a:solidFill>
                  <a:schemeClr val="tx1"/>
                </a:solidFill>
              </a:rPr>
              <a:t>Détection : </a:t>
            </a:r>
            <a:pPr indent="0" marL="0">
              <a:spcAft>
                <a:spcPts val="400"/>
              </a:spcAft>
              <a:buNone/>
            </a:pPr>
            <a:r>
              <a:rPr lang="en-US" sz="1200" dirty="0">
                <a:solidFill>
                  <a:schemeClr val="tx1"/>
                </a:solidFill>
              </a:rPr>
              <a:t>200 visages sur 28 photos (1 à 25 par image, profils et foules compris), confiance YOLO de 0,51 à 0,87 ; boîte rendue carrée + 10 % de marge.</a:t>
            </a:r>
            <a:endParaRPr lang="en-US" sz="1200" dirty="0"/>
          </a:p>
          <a:p>
            <a:pPr indent="0" marL="0">
              <a:spcAft>
                <a:spcPts val="400"/>
              </a:spcAft>
              <a:buNone/>
            </a:pPr>
            <a:r>
              <a:rPr lang="en-US" sz="1200" b="1" dirty="0">
                <a:solidFill>
                  <a:schemeClr val="tx1"/>
                </a:solidFill>
              </a:rPr>
              <a:t>Expressions lues : </a:t>
            </a:r>
            <a:pPr indent="0" marL="0">
              <a:spcAft>
                <a:spcPts val="400"/>
              </a:spcAft>
              <a:buNone/>
            </a:pPr>
            <a:r>
              <a:rPr lang="en-US" sz="1200" dirty="0">
                <a:solidFill>
                  <a:schemeClr val="tx1"/>
                </a:solidFill>
              </a:rPr>
              <a:t>Neutre 64, Joie 48, Colère 37, Tristesse 33, Peur 12, Surprise 5, Dégoût 0 ; Joie très sûre (0,89 à 0,98 ici).</a:t>
            </a:r>
            <a:endParaRPr lang="en-US" sz="1200" dirty="0"/>
          </a:p>
          <a:p>
            <a:pPr indent="0" marL="0">
              <a:spcAft>
                <a:spcPts val="400"/>
              </a:spcAft>
              <a:buNone/>
            </a:pPr>
            <a:r>
              <a:rPr lang="en-US" sz="1200" b="1" dirty="0">
                <a:solidFill>
                  <a:schemeClr val="tx1"/>
                </a:solidFill>
              </a:rPr>
              <a:t>Erreurs typiques : </a:t>
            </a:r>
            <a:pPr indent="0" marL="0">
              <a:spcAft>
                <a:spcPts val="400"/>
              </a:spcAft>
              <a:buNone/>
            </a:pPr>
            <a:r>
              <a:rPr lang="en-US" sz="1200" dirty="0">
                <a:solidFill>
                  <a:schemeClr val="tx1"/>
                </a:solidFill>
              </a:rPr>
              <a:t>bouche grande ouverte lue comme Colère au lieu de Surprise ; dégoût lu comme Colère.</a:t>
            </a:r>
            <a:endParaRPr lang="en-US" sz="1200" dirty="0"/>
          </a:p>
          <a:p>
            <a:pPr indent="0" marL="0">
              <a:spcAft>
                <a:spcPts val="400"/>
              </a:spcAft>
              <a:buNone/>
            </a:pPr>
            <a:r>
              <a:rPr lang="en-US" sz="1200" b="1" dirty="0">
                <a:solidFill>
                  <a:schemeClr val="tx1"/>
                </a:solidFill>
              </a:rPr>
              <a:t>Vidéo : </a:t>
            </a:r>
            <a:pPr indent="0" marL="0">
              <a:spcAft>
                <a:spcPts val="400"/>
              </a:spcAft>
              <a:buNone/>
            </a:pPr>
            <a:r>
              <a:rPr lang="en-US" sz="1200" dirty="0">
                <a:solidFill>
                  <a:schemeClr val="tx1"/>
                </a:solidFill>
              </a:rPr>
              <a:t>1920 × 1080, 25 img/s, 1 348 images (54 s) ; 1 visage suivi 52,8 s par ByteTrack ; Neutre 57 % du temps, Colère 31 %.</a:t>
            </a:r>
            <a:endParaRPr lang="en-US" sz="1200" dirty="0"/>
          </a:p>
          <a:p>
            <a:pPr indent="0" marL="0">
              <a:spcAft>
                <a:spcPts val="400"/>
              </a:spcAft>
              <a:buNone/>
            </a:pPr>
            <a:r>
              <a:rPr lang="en-US" sz="1200" b="1" dirty="0">
                <a:solidFill>
                  <a:schemeClr val="tx1"/>
                </a:solidFill>
              </a:rPr>
              <a:t>Lissage EMA (α = 0,3) : </a:t>
            </a:r>
            <a:pPr indent="0" marL="0">
              <a:spcAft>
                <a:spcPts val="400"/>
              </a:spcAft>
              <a:buNone/>
            </a:pPr>
            <a:r>
              <a:rPr lang="en-US" sz="1200" dirty="0">
                <a:solidFill>
                  <a:schemeClr val="tx1"/>
                </a:solidFill>
              </a:rPr>
              <a:t>197 → 65 changements d'expression ; 131 ms par image = 7,6 img/s, la vidéo en a 25.</a:t>
            </a:r>
            <a:endParaRPr lang="en-US" sz="1200" dirty="0"/>
          </a:p>
          <a:p>
            <a:pPr indent="0" marL="0">
              <a:spcAft>
                <a:spcPts val="400"/>
              </a:spcAft>
              <a:buNone/>
            </a:pPr>
            <a:r>
              <a:rPr lang="en-US" sz="1000" dirty="0">
                <a:solidFill>
                  <a:schemeClr val="accent3"/>
                </a:solidFill>
              </a:rPr>
              <a:t>Classifieur des Parties 8-9 : MobileNetV2 (F1 val 0,440 contre 0,426 pour la combinaison) · YOLO COCO détecte des personnes, d'où un YOLO entraîné sur WIDER FACE.</a:t>
            </a:r>
            <a:endParaRPr lang="en-US" sz="1200" dirty="0"/>
          </a:p>
        </p:txBody>
      </p:sp>
      <p:pic>
        <p:nvPicPr>
          <p:cNvPr id="19" name="extraits vidéo" descr="/home/claude/deck/img/c_video.png">    </p:cNvPr>
          <p:cNvPicPr>
            <a:picLocks noChangeAspect="1"/>
          </p:cNvPicPr>
          <p:nvPr/>
        </p:nvPicPr>
        <p:blipFill>
          <a:blip r:embed="rId2"/>
          <a:stretch>
            <a:fillRect/>
          </a:stretch>
        </p:blipFill>
        <p:spPr>
          <a:xfrm>
            <a:off x="548640" y="4846320"/>
            <a:ext cx="11064240" cy="1006450"/>
          </a:xfrm>
          <a:prstGeom prst="rect">
            <a:avLst/>
          </a:prstGeom>
        </p:spPr>
      </p:pic>
      <p:sp>
        <p:nvSpPr>
          <p:cNvPr id="20" name="Text 16"/>
          <p:cNvSpPr txBox="1"/>
          <p:nvPr/>
        </p:nvSpPr>
        <p:spPr>
          <a:xfrm>
            <a:off x="548640" y="5889346"/>
            <a:ext cx="1788126" cy="274320"/>
          </a:xfrm>
          <a:prstGeom prst="rect">
            <a:avLst/>
          </a:prstGeom>
          <a:noFill/>
          <a:ln/>
        </p:spPr>
        <p:txBody>
          <a:bodyPr wrap="square" lIns="0" tIns="0" rIns="0" bIns="0" rtlCol="0" anchor="ctr"/>
          <a:lstStyle/>
          <a:p>
            <a:pPr algn="ctr" indent="0" marL="0">
              <a:buNone/>
            </a:pPr>
            <a:r>
              <a:rPr lang="en-US" sz="1100" dirty="0">
                <a:solidFill>
                  <a:schemeClr val="tx1"/>
                </a:solidFill>
              </a:rPr>
              <a:t>Joie 1,00 · 26 s</a:t>
            </a:r>
            <a:endParaRPr lang="en-US" sz="1100" dirty="0"/>
          </a:p>
        </p:txBody>
      </p:sp>
      <p:sp>
        <p:nvSpPr>
          <p:cNvPr id="21" name="Text 17"/>
          <p:cNvSpPr txBox="1"/>
          <p:nvPr/>
        </p:nvSpPr>
        <p:spPr>
          <a:xfrm>
            <a:off x="2403863" y="5889346"/>
            <a:ext cx="1788126" cy="274320"/>
          </a:xfrm>
          <a:prstGeom prst="rect">
            <a:avLst/>
          </a:prstGeom>
          <a:noFill/>
          <a:ln/>
        </p:spPr>
        <p:txBody>
          <a:bodyPr wrap="square" lIns="0" tIns="0" rIns="0" bIns="0" rtlCol="0" anchor="ctr"/>
          <a:lstStyle/>
          <a:p>
            <a:pPr algn="ctr" indent="0" marL="0">
              <a:buNone/>
            </a:pPr>
            <a:r>
              <a:rPr lang="en-US" sz="1100" dirty="0">
                <a:solidFill>
                  <a:schemeClr val="tx1"/>
                </a:solidFill>
              </a:rPr>
              <a:t>Tristesse 0,47 · 27 s</a:t>
            </a:r>
            <a:endParaRPr lang="en-US" sz="1100" dirty="0"/>
          </a:p>
        </p:txBody>
      </p:sp>
      <p:sp>
        <p:nvSpPr>
          <p:cNvPr id="22" name="Text 18"/>
          <p:cNvSpPr txBox="1"/>
          <p:nvPr/>
        </p:nvSpPr>
        <p:spPr>
          <a:xfrm>
            <a:off x="4259086" y="5889346"/>
            <a:ext cx="1788126" cy="274320"/>
          </a:xfrm>
          <a:prstGeom prst="rect">
            <a:avLst/>
          </a:prstGeom>
          <a:noFill/>
          <a:ln/>
        </p:spPr>
        <p:txBody>
          <a:bodyPr wrap="square" lIns="0" tIns="0" rIns="0" bIns="0" rtlCol="0" anchor="ctr"/>
          <a:lstStyle/>
          <a:p>
            <a:pPr algn="ctr" indent="0" marL="0">
              <a:buNone/>
            </a:pPr>
            <a:r>
              <a:rPr lang="en-US" sz="1100" dirty="0">
                <a:solidFill>
                  <a:schemeClr val="tx1"/>
                </a:solidFill>
              </a:rPr>
              <a:t>Surprise 0,33 · 30 s</a:t>
            </a:r>
            <a:endParaRPr lang="en-US" sz="1100" dirty="0"/>
          </a:p>
        </p:txBody>
      </p:sp>
      <p:sp>
        <p:nvSpPr>
          <p:cNvPr id="23" name="Text 19"/>
          <p:cNvSpPr txBox="1"/>
          <p:nvPr/>
        </p:nvSpPr>
        <p:spPr>
          <a:xfrm>
            <a:off x="6114308" y="5889346"/>
            <a:ext cx="1788126" cy="274320"/>
          </a:xfrm>
          <a:prstGeom prst="rect">
            <a:avLst/>
          </a:prstGeom>
          <a:noFill/>
          <a:ln/>
        </p:spPr>
        <p:txBody>
          <a:bodyPr wrap="square" lIns="0" tIns="0" rIns="0" bIns="0" rtlCol="0" anchor="ctr"/>
          <a:lstStyle/>
          <a:p>
            <a:pPr algn="ctr" indent="0" marL="0">
              <a:buNone/>
            </a:pPr>
            <a:r>
              <a:rPr lang="en-US" sz="1100" dirty="0">
                <a:solidFill>
                  <a:schemeClr val="tx1"/>
                </a:solidFill>
              </a:rPr>
              <a:t>Neutre 0,75 · 38 s</a:t>
            </a:r>
            <a:endParaRPr lang="en-US" sz="1100" dirty="0"/>
          </a:p>
        </p:txBody>
      </p:sp>
      <p:sp>
        <p:nvSpPr>
          <p:cNvPr id="24" name="Text 20"/>
          <p:cNvSpPr txBox="1"/>
          <p:nvPr/>
        </p:nvSpPr>
        <p:spPr>
          <a:xfrm>
            <a:off x="7969531" y="5889346"/>
            <a:ext cx="1788126" cy="274320"/>
          </a:xfrm>
          <a:prstGeom prst="rect">
            <a:avLst/>
          </a:prstGeom>
          <a:noFill/>
          <a:ln/>
        </p:spPr>
        <p:txBody>
          <a:bodyPr wrap="square" lIns="0" tIns="0" rIns="0" bIns="0" rtlCol="0" anchor="ctr"/>
          <a:lstStyle/>
          <a:p>
            <a:pPr algn="ctr" indent="0" marL="0">
              <a:buNone/>
            </a:pPr>
            <a:r>
              <a:rPr lang="en-US" sz="1100" dirty="0">
                <a:solidFill>
                  <a:schemeClr val="tx1"/>
                </a:solidFill>
              </a:rPr>
              <a:t>Colère 0,65 · 49 s</a:t>
            </a:r>
            <a:endParaRPr lang="en-US" sz="1100" dirty="0"/>
          </a:p>
        </p:txBody>
      </p:sp>
      <p:sp>
        <p:nvSpPr>
          <p:cNvPr id="25" name="Text 21"/>
          <p:cNvSpPr txBox="1"/>
          <p:nvPr/>
        </p:nvSpPr>
        <p:spPr>
          <a:xfrm>
            <a:off x="9824754" y="5889346"/>
            <a:ext cx="1788126" cy="274320"/>
          </a:xfrm>
          <a:prstGeom prst="rect">
            <a:avLst/>
          </a:prstGeom>
          <a:noFill/>
          <a:ln/>
        </p:spPr>
        <p:txBody>
          <a:bodyPr wrap="square" lIns="0" tIns="0" rIns="0" bIns="0" rtlCol="0" anchor="ctr"/>
          <a:lstStyle/>
          <a:p>
            <a:pPr algn="ctr" indent="0" marL="0">
              <a:buNone/>
            </a:pPr>
            <a:r>
              <a:rPr lang="en-US" sz="1100" dirty="0">
                <a:solidFill>
                  <a:schemeClr val="tx1"/>
                </a:solidFill>
              </a:rPr>
              <a:t>Peur 0,30 · 50 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10881360" cy="1371600"/>
          </a:xfrm>
          <a:prstGeom prst="rect">
            <a:avLst/>
          </a:prstGeom>
          <a:noFill/>
          <a:ln/>
        </p:spPr>
        <p:txBody>
          <a:bodyPr wrap="square" lIns="0" tIns="0" rIns="0" bIns="0" rtlCol="0" anchor="b"/>
          <a:lstStyle/>
          <a:p>
            <a:pPr algn="l" indent="0" marL="0">
              <a:buNone/>
            </a:pPr>
            <a:r>
              <a:rPr lang="en-US" sz="4400" b="1" dirty="0">
                <a:solidFill>
                  <a:schemeClr val="bg1"/>
                </a:solidFill>
              </a:rPr>
              <a:t>Bilan</a:t>
            </a:r>
            <a:endParaRPr lang="en-US" sz="4400" dirty="0"/>
          </a:p>
        </p:txBody>
      </p:sp>
      <p:sp>
        <p:nvSpPr>
          <p:cNvPr id="3" name="Text 0"/>
          <p:cNvSpPr/>
          <p:nvPr>
            <p:ph idx="101" type="body" hasCustomPrompt="1"/>
          </p:nvPr>
        </p:nvSpPr>
        <p:spPr>
          <a:xfrm>
            <a:off x="640080" y="2560320"/>
            <a:ext cx="10881360" cy="822960"/>
          </a:xfrm>
          <a:prstGeom prst="rect">
            <a:avLst/>
          </a:prstGeom>
          <a:noFill/>
          <a:ln/>
        </p:spPr>
        <p:txBody>
          <a:bodyPr wrap="square" lIns="0" tIns="0" rIns="0" bIns="0" rtlCol="0" anchor="t"/>
          <a:lstStyle/>
          <a:p>
            <a:pPr algn="l" indent="0" marL="0">
              <a:buNone/>
            </a:pPr>
            <a:r>
              <a:rPr lang="en-US" sz="2000" dirty="0">
                <a:solidFill>
                  <a:schemeClr val="accent2"/>
                </a:solidFill>
              </a:rPr>
              <a:t>Un système complet : de la photo ou de la vidéo à l'expression de chaque visage</a:t>
            </a:r>
            <a:endParaRPr lang="en-US" sz="2000" dirty="0"/>
          </a:p>
        </p:txBody>
      </p:sp>
      <p:sp>
        <p:nvSpPr>
          <p:cNvPr id="4" name="Text 2"/>
          <p:cNvSpPr txBox="1"/>
          <p:nvPr/>
        </p:nvSpPr>
        <p:spPr>
          <a:xfrm>
            <a:off x="640080" y="3520440"/>
            <a:ext cx="3429000" cy="411480"/>
          </a:xfrm>
          <a:prstGeom prst="rect">
            <a:avLst/>
          </a:prstGeom>
          <a:noFill/>
          <a:ln/>
        </p:spPr>
        <p:txBody>
          <a:bodyPr wrap="square" lIns="0" tIns="0" rIns="0" bIns="0" rtlCol="0" anchor="ctr"/>
          <a:lstStyle/>
          <a:p>
            <a:pPr indent="0" marL="0">
              <a:buNone/>
            </a:pPr>
            <a:r>
              <a:rPr lang="en-US" sz="2000" b="1" dirty="0">
                <a:solidFill>
                  <a:schemeClr val="accent2"/>
                </a:solidFill>
              </a:rPr>
              <a:t>Ce qui marche</a:t>
            </a:r>
            <a:endParaRPr lang="en-US" sz="2000" dirty="0"/>
          </a:p>
        </p:txBody>
      </p:sp>
      <p:sp>
        <p:nvSpPr>
          <p:cNvPr id="5" name="Text 3"/>
          <p:cNvSpPr txBox="1"/>
          <p:nvPr/>
        </p:nvSpPr>
        <p:spPr>
          <a:xfrm>
            <a:off x="640080" y="3977640"/>
            <a:ext cx="3429000" cy="22860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bg1"/>
                </a:solidFill>
              </a:rPr>
              <a:t>CNN : 53,0 % au test contre 39,1 % (dense) et 24,7 % (toujours Joie)</a:t>
            </a:r>
            <a:endParaRPr lang="en-US" sz="1300" dirty="0"/>
          </a:p>
          <a:p>
            <a:pPr marL="342900" indent="-342900">
              <a:spcAft>
                <a:spcPts val="500"/>
              </a:spcAft>
              <a:buSzPct val="100000"/>
              <a:buChar char="•"/>
            </a:pPr>
            <a:r>
              <a:rPr lang="en-US" sz="1300" dirty="0">
                <a:solidFill>
                  <a:schemeClr val="bg1"/>
                </a:solidFill>
              </a:rPr>
              <a:t>Dropout : meilleur modèle, 57,1 % en val., F1 macro 0,509 (+5,5 pts)</a:t>
            </a:r>
            <a:endParaRPr lang="en-US" sz="1300" dirty="0"/>
          </a:p>
          <a:p>
            <a:pPr marL="342900" indent="-342900">
              <a:spcAft>
                <a:spcPts val="500"/>
              </a:spcAft>
              <a:buSzPct val="100000"/>
              <a:buChar char="•"/>
            </a:pPr>
            <a:r>
              <a:rPr lang="en-US" sz="1300" dirty="0">
                <a:solidFill>
                  <a:schemeClr val="bg1"/>
                </a:solidFill>
              </a:rPr>
              <a:t>Joie (F1 0,75) et Surprise (0,68) bien reconnues</a:t>
            </a:r>
            <a:endParaRPr lang="en-US" sz="1300" dirty="0"/>
          </a:p>
          <a:p>
            <a:pPr marL="342900" indent="-342900">
              <a:spcAft>
                <a:spcPts val="500"/>
              </a:spcAft>
              <a:buSzPct val="100000"/>
              <a:buChar char="•"/>
            </a:pPr>
            <a:r>
              <a:rPr lang="en-US" sz="1300" dirty="0">
                <a:solidFill>
                  <a:schemeClr val="bg1"/>
                </a:solidFill>
              </a:rPr>
              <a:t>YOLO : 200 visages détectés sur 28 photos, jusqu'à 25 par image</a:t>
            </a:r>
            <a:endParaRPr lang="en-US" sz="1300" dirty="0"/>
          </a:p>
        </p:txBody>
      </p:sp>
      <p:sp>
        <p:nvSpPr>
          <p:cNvPr id="6" name="Text 4"/>
          <p:cNvSpPr txBox="1"/>
          <p:nvPr/>
        </p:nvSpPr>
        <p:spPr>
          <a:xfrm>
            <a:off x="4343400" y="3520440"/>
            <a:ext cx="3429000" cy="411480"/>
          </a:xfrm>
          <a:prstGeom prst="rect">
            <a:avLst/>
          </a:prstGeom>
          <a:noFill/>
          <a:ln/>
        </p:spPr>
        <p:txBody>
          <a:bodyPr wrap="square" lIns="0" tIns="0" rIns="0" bIns="0" rtlCol="0" anchor="ctr"/>
          <a:lstStyle/>
          <a:p>
            <a:pPr indent="0" marL="0">
              <a:buNone/>
            </a:pPr>
            <a:r>
              <a:rPr lang="en-US" sz="2000" b="1" dirty="0">
                <a:solidFill>
                  <a:schemeClr val="accent1"/>
                </a:solidFill>
              </a:rPr>
              <a:t>Limites</a:t>
            </a:r>
            <a:endParaRPr lang="en-US" sz="2000" dirty="0"/>
          </a:p>
        </p:txBody>
      </p:sp>
      <p:sp>
        <p:nvSpPr>
          <p:cNvPr id="7" name="Text 5"/>
          <p:cNvSpPr txBox="1"/>
          <p:nvPr/>
        </p:nvSpPr>
        <p:spPr>
          <a:xfrm>
            <a:off x="4343400" y="3977640"/>
            <a:ext cx="3429000" cy="22860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bg1"/>
                </a:solidFill>
              </a:rPr>
              <a:t>Peur (F1 0,31) et Dégoût (0,02) mal reconnus</a:t>
            </a:r>
            <a:endParaRPr lang="en-US" sz="1300" dirty="0"/>
          </a:p>
          <a:p>
            <a:pPr marL="342900" indent="-342900">
              <a:spcAft>
                <a:spcPts val="500"/>
              </a:spcAft>
              <a:buSzPct val="100000"/>
              <a:buChar char="•"/>
            </a:pPr>
            <a:r>
              <a:rPr lang="en-US" sz="1300" dirty="0">
                <a:solidFill>
                  <a:schemeClr val="bg1"/>
                </a:solidFill>
              </a:rPr>
              <a:t>Tristesse sert de refuge (jusqu'à 29 % des Peur)</a:t>
            </a:r>
            <a:endParaRPr lang="en-US" sz="1300" dirty="0"/>
          </a:p>
          <a:p>
            <a:pPr marL="342900" indent="-342900">
              <a:spcAft>
                <a:spcPts val="500"/>
              </a:spcAft>
              <a:buSzPct val="100000"/>
              <a:buChar char="•"/>
            </a:pPr>
            <a:r>
              <a:rPr lang="en-US" sz="1300" dirty="0">
                <a:solidFill>
                  <a:schemeClr val="bg1"/>
                </a:solidFill>
              </a:rPr>
              <a:t>Expressions retenues ou de profil</a:t>
            </a:r>
            <a:endParaRPr lang="en-US" sz="1300" dirty="0"/>
          </a:p>
          <a:p>
            <a:pPr marL="342900" indent="-342900">
              <a:spcAft>
                <a:spcPts val="500"/>
              </a:spcAft>
              <a:buSzPct val="100000"/>
              <a:buChar char="•"/>
            </a:pPr>
            <a:r>
              <a:rPr lang="en-US" sz="1300" dirty="0">
                <a:solidFill>
                  <a:schemeClr val="bg1"/>
                </a:solidFill>
              </a:rPr>
              <a:t>7,6 img/s : pas encore du temps réel (25 img/s)</a:t>
            </a:r>
            <a:endParaRPr lang="en-US" sz="1300" dirty="0"/>
          </a:p>
        </p:txBody>
      </p:sp>
      <p:sp>
        <p:nvSpPr>
          <p:cNvPr id="8" name="Text 6"/>
          <p:cNvSpPr txBox="1"/>
          <p:nvPr/>
        </p:nvSpPr>
        <p:spPr>
          <a:xfrm>
            <a:off x="8046720" y="3520440"/>
            <a:ext cx="3429000" cy="411480"/>
          </a:xfrm>
          <a:prstGeom prst="rect">
            <a:avLst/>
          </a:prstGeom>
          <a:noFill/>
          <a:ln/>
        </p:spPr>
        <p:txBody>
          <a:bodyPr wrap="square" lIns="0" tIns="0" rIns="0" bIns="0" rtlCol="0" anchor="ctr"/>
          <a:lstStyle/>
          <a:p>
            <a:pPr indent="0" marL="0">
              <a:buNone/>
            </a:pPr>
            <a:r>
              <a:rPr lang="en-US" sz="2000" b="1" dirty="0">
                <a:solidFill>
                  <a:schemeClr val="accent4"/>
                </a:solidFill>
              </a:rPr>
              <a:t>Pistes</a:t>
            </a:r>
            <a:endParaRPr lang="en-US" sz="2000" dirty="0"/>
          </a:p>
        </p:txBody>
      </p:sp>
      <p:sp>
        <p:nvSpPr>
          <p:cNvPr id="9" name="Text 7"/>
          <p:cNvSpPr txBox="1"/>
          <p:nvPr/>
        </p:nvSpPr>
        <p:spPr>
          <a:xfrm>
            <a:off x="8046720" y="3977640"/>
            <a:ext cx="3429000" cy="22860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bg1"/>
                </a:solidFill>
              </a:rPr>
              <a:t>Plus de données pour les classes rares (Dégoût : 1,5 %)</a:t>
            </a:r>
            <a:endParaRPr lang="en-US" sz="1300" dirty="0"/>
          </a:p>
          <a:p>
            <a:pPr marL="342900" indent="-342900">
              <a:spcAft>
                <a:spcPts val="500"/>
              </a:spcAft>
              <a:buSzPct val="100000"/>
              <a:buChar char="•"/>
            </a:pPr>
            <a:r>
              <a:rPr lang="en-US" sz="1300" dirty="0">
                <a:solidFill>
                  <a:schemeClr val="bg1"/>
                </a:solidFill>
              </a:rPr>
              <a:t>Mettre le CNN + Dropout (E1) dans la chaîne photo et vidéo</a:t>
            </a:r>
            <a:endParaRPr lang="en-US" sz="1300" dirty="0"/>
          </a:p>
          <a:p>
            <a:pPr marL="342900" indent="-342900">
              <a:spcAft>
                <a:spcPts val="500"/>
              </a:spcAft>
              <a:buSzPct val="100000"/>
              <a:buChar char="•"/>
            </a:pPr>
            <a:r>
              <a:rPr lang="en-US" sz="1300" dirty="0">
                <a:solidFill>
                  <a:schemeClr val="bg1"/>
                </a:solidFill>
              </a:rPr>
              <a:t>Combiner les régularisations avec des doses réduites</a:t>
            </a:r>
            <a:endParaRPr lang="en-US" sz="1300" dirty="0"/>
          </a:p>
          <a:p>
            <a:pPr marL="342900" indent="-342900">
              <a:spcAft>
                <a:spcPts val="500"/>
              </a:spcAft>
              <a:buSzPct val="100000"/>
              <a:buChar char="•"/>
            </a:pPr>
            <a:r>
              <a:rPr lang="en-US" sz="1300" dirty="0">
                <a:solidFill>
                  <a:schemeClr val="bg1"/>
                </a:solidFill>
              </a:rPr>
              <a:t>Ré-entraîner sur des visages extraits par YOLO</a:t>
            </a:r>
            <a:endParaRPr lang="en-US" sz="1300" dirty="0"/>
          </a:p>
        </p:txBody>
      </p:sp>
    </p:spTree>
  </p:cSld>
  <p:clrMapOvr>
    <a:masterClrMapping/>
  </p:clrMapOvr>
</p:sld>
</file>

<file path=ppt/theme/theme1.xml><?xml version="1.0" encoding="utf-8"?>
<a:theme xmlns:a="http://schemas.openxmlformats.org/drawingml/2006/main" name="Expressions faciales">
  <a:themeElements>
    <a:clrScheme name="Expressions faciales">
      <a:dk1>
        <a:srgbClr val="1F2933"/>
      </a:dk1>
      <a:lt1>
        <a:srgbClr val="FFFFFF"/>
      </a:lt1>
      <a:dk2>
        <a:srgbClr val="14213D"/>
      </a:dk2>
      <a:lt2>
        <a:srgbClr val="F2F4F7"/>
      </a:lt2>
      <a:accent1>
        <a:srgbClr val="FF6B5B"/>
      </a:accent1>
      <a:accent2>
        <a:srgbClr val="2EC4B6"/>
      </a:accent2>
      <a:accent3>
        <a:srgbClr val="8D99AE"/>
      </a:accent3>
      <a:accent4>
        <a:srgbClr val="FFB347"/>
      </a:accent4>
      <a:accent5>
        <a:srgbClr val="5C7AEA"/>
      </a:accent5>
      <a:accent6>
        <a:srgbClr val="A0AEC0"/>
      </a:accent6>
      <a:hlink>
        <a:srgbClr val="5C7AEA"/>
      </a:hlink>
      <a:folHlink>
        <a:srgbClr val="8D99AE"/>
      </a:folHlink>
    </a:clrScheme>
    <a:fontScheme name="Expressions facial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Reconnaissance d'expressions faciales</dc:title>
  <dc:subject>PptxGenJS Presentation</dc:subject>
  <dc:creator>PptxGenJS</dc:creator>
  <cp:lastModifiedBy>PptxGenJS</cp:lastModifiedBy>
  <cp:revision>1</cp:revision>
  <dcterms:created xsi:type="dcterms:W3CDTF">2026-10-09T00:14:03Z</dcterms:created>
  <dcterms:modified xsi:type="dcterms:W3CDTF">2026-10-09T00:14:03Z</dcterms:modified>
</cp:coreProperties>
</file>